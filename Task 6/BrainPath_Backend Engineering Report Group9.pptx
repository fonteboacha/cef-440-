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BF08A5-C892-41CB-AA5D-992847094789}">
  <a:tblStyle styleId="{6ABF08A5-C892-41CB-AA5D-99284709478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-19" y="4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8960483E-C61C-AD91-83A3-FF073DA4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A158C471-CF0F-B712-8CD2-D16B234B4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BF89B43C-3632-85DA-A314-20561CBD9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3098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AF0E8-5C78-D9F1-DF33-58F1E6B46C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2830282" y="163282"/>
            <a:ext cx="6531436" cy="653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E7EEF6"/>
              </a:gs>
              <a:gs pos="0">
                <a:schemeClr val="accent1">
                  <a:lumMod val="5000"/>
                  <a:lumOff val="95000"/>
                </a:schemeClr>
              </a:gs>
              <a:gs pos="97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619750" y="3256508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ABE63-3E70-411E-3BD7-1E674E51810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7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38658">
            <a:off x="5960210" y="214365"/>
            <a:ext cx="6798319" cy="6798319"/>
          </a:xfrm>
          <a:prstGeom prst="rect">
            <a:avLst/>
          </a:prstGeom>
        </p:spPr>
      </p:pic>
      <p:sp>
        <p:nvSpPr>
          <p:cNvPr id="88" name="Google Shape;88;p13"/>
          <p:cNvSpPr txBox="1"/>
          <p:nvPr/>
        </p:nvSpPr>
        <p:spPr>
          <a:xfrm>
            <a:off x="0" y="4894808"/>
            <a:ext cx="12192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Group 9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0" y="1534566"/>
            <a:ext cx="121920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BrainPath</a:t>
            </a:r>
            <a:r>
              <a:rPr lang="en-US" sz="480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Architecture &amp; Implementation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3799433"/>
            <a:ext cx="121920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Relational Database Design and Backend Pipeline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ROADMAP &amp; DELIVERABLES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7AD550-B854-C912-3497-F283A16ADCB1}"/>
              </a:ext>
            </a:extLst>
          </p:cNvPr>
          <p:cNvSpPr/>
          <p:nvPr/>
        </p:nvSpPr>
        <p:spPr>
          <a:xfrm>
            <a:off x="1389880" y="2013585"/>
            <a:ext cx="1600200" cy="3310128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4A607D-5004-F91E-D236-EC3CC2964AA6}"/>
              </a:ext>
            </a:extLst>
          </p:cNvPr>
          <p:cNvSpPr/>
          <p:nvPr/>
        </p:nvSpPr>
        <p:spPr>
          <a:xfrm>
            <a:off x="1389880" y="2013585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65EBBB-8AB8-8C84-426C-6CB3BED74258}"/>
              </a:ext>
            </a:extLst>
          </p:cNvPr>
          <p:cNvSpPr/>
          <p:nvPr/>
        </p:nvSpPr>
        <p:spPr>
          <a:xfrm>
            <a:off x="1389880" y="201358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7450C3-2369-AA56-5EBE-7953C1FB2CC4}"/>
              </a:ext>
            </a:extLst>
          </p:cNvPr>
          <p:cNvSpPr/>
          <p:nvPr/>
        </p:nvSpPr>
        <p:spPr>
          <a:xfrm>
            <a:off x="1965952" y="2525649"/>
            <a:ext cx="457200" cy="457200"/>
          </a:xfrm>
          <a:prstGeom prst="ellipse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F3E487-3FD3-DD8C-49E9-1B6948A02568}"/>
              </a:ext>
            </a:extLst>
          </p:cNvPr>
          <p:cNvSpPr/>
          <p:nvPr/>
        </p:nvSpPr>
        <p:spPr>
          <a:xfrm>
            <a:off x="1965952" y="25256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C40E04E-C312-1013-FE9A-1A2D4E1F1446}"/>
              </a:ext>
            </a:extLst>
          </p:cNvPr>
          <p:cNvSpPr/>
          <p:nvPr/>
        </p:nvSpPr>
        <p:spPr>
          <a:xfrm>
            <a:off x="1481320" y="3110865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D23DD5-F3AB-C795-7929-3C4653AB5370}"/>
              </a:ext>
            </a:extLst>
          </p:cNvPr>
          <p:cNvSpPr/>
          <p:nvPr/>
        </p:nvSpPr>
        <p:spPr>
          <a:xfrm>
            <a:off x="1481320" y="3659505"/>
            <a:ext cx="1417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user attributes &amp; academic metrics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F85D61F-B191-430C-E244-9B75383DD30C}"/>
              </a:ext>
            </a:extLst>
          </p:cNvPr>
          <p:cNvSpPr/>
          <p:nvPr/>
        </p:nvSpPr>
        <p:spPr>
          <a:xfrm>
            <a:off x="3127240" y="2013585"/>
            <a:ext cx="1600200" cy="3310128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6BE99D7-5E55-33A1-A94B-F09FA364830B}"/>
              </a:ext>
            </a:extLst>
          </p:cNvPr>
          <p:cNvSpPr/>
          <p:nvPr/>
        </p:nvSpPr>
        <p:spPr>
          <a:xfrm>
            <a:off x="3127240" y="2013585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459C445-D4E1-151E-C0A9-F1E6426FB7E5}"/>
              </a:ext>
            </a:extLst>
          </p:cNvPr>
          <p:cNvSpPr/>
          <p:nvPr/>
        </p:nvSpPr>
        <p:spPr>
          <a:xfrm>
            <a:off x="3127240" y="201358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678FBB8-2FBD-272C-521E-D83DB45F6C62}"/>
              </a:ext>
            </a:extLst>
          </p:cNvPr>
          <p:cNvSpPr/>
          <p:nvPr/>
        </p:nvSpPr>
        <p:spPr>
          <a:xfrm>
            <a:off x="3703312" y="2525649"/>
            <a:ext cx="457200" cy="457200"/>
          </a:xfrm>
          <a:prstGeom prst="ellipse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77CD51-A0CF-814A-06A2-BA6CB1F5CB6A}"/>
              </a:ext>
            </a:extLst>
          </p:cNvPr>
          <p:cNvSpPr/>
          <p:nvPr/>
        </p:nvSpPr>
        <p:spPr>
          <a:xfrm>
            <a:off x="3703312" y="25256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7DA0F7-03F7-90F9-5DBE-6BF5F54BF3A0}"/>
              </a:ext>
            </a:extLst>
          </p:cNvPr>
          <p:cNvSpPr/>
          <p:nvPr/>
        </p:nvSpPr>
        <p:spPr>
          <a:xfrm>
            <a:off x="3218680" y="3110865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860BF02-1B50-A3E4-E458-679AD51F582E}"/>
              </a:ext>
            </a:extLst>
          </p:cNvPr>
          <p:cNvSpPr/>
          <p:nvPr/>
        </p:nvSpPr>
        <p:spPr>
          <a:xfrm>
            <a:off x="3218680" y="3659505"/>
            <a:ext cx="1417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blueprint &amp; 3NF normalisation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17109E9-E3A3-C3D3-744F-AACA99EE73C5}"/>
              </a:ext>
            </a:extLst>
          </p:cNvPr>
          <p:cNvSpPr/>
          <p:nvPr/>
        </p:nvSpPr>
        <p:spPr>
          <a:xfrm>
            <a:off x="4864600" y="2013585"/>
            <a:ext cx="1600200" cy="3310128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6E0EC94-F753-13EE-F44A-B664D404AE52}"/>
              </a:ext>
            </a:extLst>
          </p:cNvPr>
          <p:cNvSpPr/>
          <p:nvPr/>
        </p:nvSpPr>
        <p:spPr>
          <a:xfrm>
            <a:off x="4864600" y="2013585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FBCC454-ED28-7027-87B3-EB75F4172A24}"/>
              </a:ext>
            </a:extLst>
          </p:cNvPr>
          <p:cNvSpPr/>
          <p:nvPr/>
        </p:nvSpPr>
        <p:spPr>
          <a:xfrm>
            <a:off x="4864600" y="201358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E4F73A9-94CB-1F51-FB42-2D004A5AE8A8}"/>
              </a:ext>
            </a:extLst>
          </p:cNvPr>
          <p:cNvSpPr/>
          <p:nvPr/>
        </p:nvSpPr>
        <p:spPr>
          <a:xfrm>
            <a:off x="5440672" y="2525649"/>
            <a:ext cx="457200" cy="457200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D7F3EE-24FB-EE59-8F7C-49B9862C18F7}"/>
              </a:ext>
            </a:extLst>
          </p:cNvPr>
          <p:cNvSpPr/>
          <p:nvPr/>
        </p:nvSpPr>
        <p:spPr>
          <a:xfrm>
            <a:off x="5440672" y="25256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08F3025-702C-1023-0F5D-0E011BB48B86}"/>
              </a:ext>
            </a:extLst>
          </p:cNvPr>
          <p:cNvSpPr/>
          <p:nvPr/>
        </p:nvSpPr>
        <p:spPr>
          <a:xfrm>
            <a:off x="4956040" y="3110865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73D2DA8-F7E7-B8EE-E7FD-88B0ADB69859}"/>
              </a:ext>
            </a:extLst>
          </p:cNvPr>
          <p:cNvSpPr/>
          <p:nvPr/>
        </p:nvSpPr>
        <p:spPr>
          <a:xfrm>
            <a:off x="4956040" y="3659505"/>
            <a:ext cx="1417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dependencies, constraints &amp; cardinalities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A8C36C8-7E11-7390-8A62-B27B7594AD38}"/>
              </a:ext>
            </a:extLst>
          </p:cNvPr>
          <p:cNvSpPr/>
          <p:nvPr/>
        </p:nvSpPr>
        <p:spPr>
          <a:xfrm>
            <a:off x="6601960" y="2013585"/>
            <a:ext cx="1600200" cy="3310128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22DF681-E046-6F2B-F99D-73E394D848D7}"/>
              </a:ext>
            </a:extLst>
          </p:cNvPr>
          <p:cNvSpPr/>
          <p:nvPr/>
        </p:nvSpPr>
        <p:spPr>
          <a:xfrm>
            <a:off x="6601960" y="2013585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FB2D681-3EC0-3649-7B40-17B29947BAD7}"/>
              </a:ext>
            </a:extLst>
          </p:cNvPr>
          <p:cNvSpPr/>
          <p:nvPr/>
        </p:nvSpPr>
        <p:spPr>
          <a:xfrm>
            <a:off x="6601960" y="201358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A8CC6DF-F397-F537-896C-5D78A7BD8100}"/>
              </a:ext>
            </a:extLst>
          </p:cNvPr>
          <p:cNvSpPr/>
          <p:nvPr/>
        </p:nvSpPr>
        <p:spPr>
          <a:xfrm>
            <a:off x="7178032" y="2525649"/>
            <a:ext cx="457200" cy="457200"/>
          </a:xfrm>
          <a:prstGeom prst="ellipse">
            <a:avLst/>
          </a:prstGeom>
          <a:solidFill>
            <a:srgbClr val="64748B">
              <a:alpha val="1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491F938-B92D-E930-B87E-90A209D60F3D}"/>
              </a:ext>
            </a:extLst>
          </p:cNvPr>
          <p:cNvSpPr/>
          <p:nvPr/>
        </p:nvSpPr>
        <p:spPr>
          <a:xfrm>
            <a:off x="7178032" y="25256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36A09D0-57CB-A6B1-C140-C8A9C871B4AC}"/>
              </a:ext>
            </a:extLst>
          </p:cNvPr>
          <p:cNvSpPr/>
          <p:nvPr/>
        </p:nvSpPr>
        <p:spPr>
          <a:xfrm>
            <a:off x="6693400" y="3110865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&amp; Backend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769A987-1358-2EEC-309A-31B821F668DA}"/>
              </a:ext>
            </a:extLst>
          </p:cNvPr>
          <p:cNvSpPr/>
          <p:nvPr/>
        </p:nvSpPr>
        <p:spPr>
          <a:xfrm>
            <a:off x="6693400" y="3659505"/>
            <a:ext cx="1417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schemas &amp; Express API server</a:t>
            </a:r>
            <a:endParaRPr lang="en-US" sz="1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E6495B9-D26A-E7BD-9D2A-F294ECCB88ED}"/>
              </a:ext>
            </a:extLst>
          </p:cNvPr>
          <p:cNvSpPr/>
          <p:nvPr/>
        </p:nvSpPr>
        <p:spPr>
          <a:xfrm>
            <a:off x="8339320" y="2013585"/>
            <a:ext cx="1600200" cy="3310128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61D73F0-0840-ECB0-1F5D-529DA4B7DC17}"/>
              </a:ext>
            </a:extLst>
          </p:cNvPr>
          <p:cNvSpPr/>
          <p:nvPr/>
        </p:nvSpPr>
        <p:spPr>
          <a:xfrm>
            <a:off x="8339320" y="2013585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2231B4D-BC2F-3B72-0DCB-D3194CCA86A4}"/>
              </a:ext>
            </a:extLst>
          </p:cNvPr>
          <p:cNvSpPr/>
          <p:nvPr/>
        </p:nvSpPr>
        <p:spPr>
          <a:xfrm>
            <a:off x="8339320" y="201358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999220D-F928-B08C-A956-D20D37F2943C}"/>
              </a:ext>
            </a:extLst>
          </p:cNvPr>
          <p:cNvSpPr/>
          <p:nvPr/>
        </p:nvSpPr>
        <p:spPr>
          <a:xfrm>
            <a:off x="8915392" y="2525649"/>
            <a:ext cx="457200" cy="457200"/>
          </a:xfrm>
          <a:prstGeom prst="ellipse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FEF93B0-F866-C2D6-33EA-730B7866892B}"/>
              </a:ext>
            </a:extLst>
          </p:cNvPr>
          <p:cNvSpPr/>
          <p:nvPr/>
        </p:nvSpPr>
        <p:spPr>
          <a:xfrm>
            <a:off x="8915392" y="25256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E396FAD-4282-2904-7F24-3BC46B3C81B3}"/>
              </a:ext>
            </a:extLst>
          </p:cNvPr>
          <p:cNvSpPr/>
          <p:nvPr/>
        </p:nvSpPr>
        <p:spPr>
          <a:xfrm>
            <a:off x="8430760" y="3110865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Link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0297016-70C6-F239-93C3-EF84DFDA627C}"/>
              </a:ext>
            </a:extLst>
          </p:cNvPr>
          <p:cNvSpPr/>
          <p:nvPr/>
        </p:nvSpPr>
        <p:spPr>
          <a:xfrm>
            <a:off x="8430760" y="3659505"/>
            <a:ext cx="1417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React frontend data wiring</a:t>
            </a:r>
            <a:endParaRPr lang="en-US" sz="10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D935AED-C9FA-910C-D6C5-E14C0C77C958}"/>
              </a:ext>
            </a:extLst>
          </p:cNvPr>
          <p:cNvSpPr/>
          <p:nvPr/>
        </p:nvSpPr>
        <p:spPr>
          <a:xfrm>
            <a:off x="3054088" y="3312033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8E72CC9-77F2-44F7-450E-2066EDA55298}"/>
              </a:ext>
            </a:extLst>
          </p:cNvPr>
          <p:cNvSpPr/>
          <p:nvPr/>
        </p:nvSpPr>
        <p:spPr>
          <a:xfrm>
            <a:off x="4791448" y="3312033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E62329F-D397-F1A4-53F8-B7EAF3EA4F69}"/>
              </a:ext>
            </a:extLst>
          </p:cNvPr>
          <p:cNvSpPr/>
          <p:nvPr/>
        </p:nvSpPr>
        <p:spPr>
          <a:xfrm>
            <a:off x="6528808" y="3312033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343330D-E2C6-70A8-C38E-20E2B273AEEC}"/>
              </a:ext>
            </a:extLst>
          </p:cNvPr>
          <p:cNvSpPr/>
          <p:nvPr/>
        </p:nvSpPr>
        <p:spPr>
          <a:xfrm>
            <a:off x="8266168" y="3312033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3F1089AF-E4DA-2DA3-28C7-620B51CD2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289FE359-4B17-C918-1C97-16E1E9DCAC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0CB200DE-15C8-93B7-A3CD-2150F7080C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38375"/>
            <a:ext cx="34607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5A1BD5DA-4568-FE4C-5420-FB232730C62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2238375"/>
            <a:ext cx="34607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AEB5464D-57F1-0377-A4EF-183CB6BA307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38375"/>
            <a:ext cx="3460849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5DCD95B0-2724-EF58-9C13-E12931910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019550"/>
            <a:ext cx="34607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6B2677E1-DA80-0999-3D56-714AB117E6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4019550"/>
            <a:ext cx="34607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507E8E6B-A56A-A6C6-8781-DC415B1CB072}"/>
              </a:ext>
            </a:extLst>
          </p:cNvPr>
          <p:cNvSpPr txBox="1"/>
          <p:nvPr/>
        </p:nvSpPr>
        <p:spPr>
          <a:xfrm>
            <a:off x="952500" y="2476500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User Credentials</a:t>
            </a:r>
            <a:endParaRPr/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0572F5F3-DF25-7626-6A3E-437F864178FD}"/>
              </a:ext>
            </a:extLst>
          </p:cNvPr>
          <p:cNvSpPr txBox="1"/>
          <p:nvPr/>
        </p:nvSpPr>
        <p:spPr>
          <a:xfrm>
            <a:off x="952500" y="2857500"/>
            <a:ext cx="2936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 identity variables including encrypted password hashes and administrative roles.</a:t>
            </a:r>
            <a:endParaRPr/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AFD215E5-4FF4-84D3-09F2-5C33F6B6800D}"/>
              </a:ext>
            </a:extLst>
          </p:cNvPr>
          <p:cNvSpPr txBox="1"/>
          <p:nvPr/>
        </p:nvSpPr>
        <p:spPr>
          <a:xfrm>
            <a:off x="4651325" y="2476500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Student Metrics</a:t>
            </a:r>
            <a:endParaRPr/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DF33BDD6-A637-5DCA-BFFC-A92BB138C2EF}"/>
              </a:ext>
            </a:extLst>
          </p:cNvPr>
          <p:cNvSpPr txBox="1"/>
          <p:nvPr/>
        </p:nvSpPr>
        <p:spPr>
          <a:xfrm>
            <a:off x="4651325" y="2857500"/>
            <a:ext cx="2936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Performance vectors like cumulative study hours, completion rates, and daily streaks.</a:t>
            </a:r>
            <a:endParaRPr/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7EC840EC-014B-5E02-6786-C247E7B54FA9}"/>
              </a:ext>
            </a:extLst>
          </p:cNvPr>
          <p:cNvSpPr txBox="1"/>
          <p:nvPr/>
        </p:nvSpPr>
        <p:spPr>
          <a:xfrm>
            <a:off x="8350150" y="2476500"/>
            <a:ext cx="30838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Curriculum Data</a:t>
            </a:r>
            <a:endParaRPr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03BBC31F-459D-6CB6-DF5B-C232ABD5E0E9}"/>
              </a:ext>
            </a:extLst>
          </p:cNvPr>
          <p:cNvSpPr txBox="1"/>
          <p:nvPr/>
        </p:nvSpPr>
        <p:spPr>
          <a:xfrm>
            <a:off x="8350150" y="2857500"/>
            <a:ext cx="29369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Course artifacts, module keys, and lesson-level tracking parameters.</a:t>
            </a:r>
            <a:endParaRPr/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899E71A9-661D-3A6A-62A5-A94D42CB6801}"/>
              </a:ext>
            </a:extLst>
          </p:cNvPr>
          <p:cNvSpPr txBox="1"/>
          <p:nvPr/>
        </p:nvSpPr>
        <p:spPr>
          <a:xfrm>
            <a:off x="952500" y="4257675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Event Metadata</a:t>
            </a:r>
            <a:endParaRPr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1351EBAE-0EC8-BF2D-852F-F00D2A7CBA90}"/>
              </a:ext>
            </a:extLst>
          </p:cNvPr>
          <p:cNvSpPr txBox="1"/>
          <p:nvPr/>
        </p:nvSpPr>
        <p:spPr>
          <a:xfrm>
            <a:off x="952500" y="4638675"/>
            <a:ext cx="29368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Temporal events including quizzes, lectures, and task-specific deadlines.</a:t>
            </a:r>
            <a:endParaRPr/>
          </a:p>
        </p:txBody>
      </p:sp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684B174E-3412-338F-A603-085974F2D048}"/>
              </a:ext>
            </a:extLst>
          </p:cNvPr>
          <p:cNvSpPr txBox="1"/>
          <p:nvPr/>
        </p:nvSpPr>
        <p:spPr>
          <a:xfrm>
            <a:off x="4651325" y="4257675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Engagement Logs</a:t>
            </a:r>
            <a:endParaRPr/>
          </a:p>
        </p:txBody>
      </p:sp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65DFB289-2342-0D2E-AC82-AF599226176E}"/>
              </a:ext>
            </a:extLst>
          </p:cNvPr>
          <p:cNvSpPr txBox="1"/>
          <p:nvPr/>
        </p:nvSpPr>
        <p:spPr>
          <a:xfrm>
            <a:off x="4651325" y="4638675"/>
            <a:ext cx="2936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activity distributions mapped across the weekly calendar for trend analysis.</a:t>
            </a:r>
            <a:endParaRPr/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39D375E1-3EFC-7414-F538-1D94922B22EB}"/>
              </a:ext>
            </a:extLst>
          </p:cNvPr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DATA ELEMENTS &amp; CORE ENTITIES</a:t>
            </a:r>
            <a:endParaRPr/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5DB729AD-9346-20F3-386F-6765708A4CB7}"/>
              </a:ext>
            </a:extLst>
          </p:cNvPr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757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156223" y="1976612"/>
            <a:ext cx="43605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Normalization &amp; Performance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7156223" y="2433812"/>
            <a:ext cx="41529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3NF Compliance: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architected the schema following 3rd Normal Form rules to eliminate data redundancy and ensure transactional integrity.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7156223" y="3700637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Decoupled Tables: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Volatile metrics (e.g., login streaks) are separated from core user info to optimize query speeds and storage efficiency.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156223" y="4696000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Access Control: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Logic-level separation of Student and Instructor roles for secure dashboard routing.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CONCEPTUAL RELATIONAL MODELING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F80DE-3BA8-D9BF-CBF1-7FA2DA1E2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368" y="1344489"/>
            <a:ext cx="4663614" cy="53961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66750" y="5114925"/>
            <a:ext cx="1085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Standard Crow's Foot notation was used to establish these relational constraints.</a:t>
            </a:r>
            <a:endParaRPr/>
          </a:p>
        </p:txBody>
      </p:sp>
      <p:graphicFrame>
        <p:nvGraphicFramePr>
          <p:cNvPr id="148" name="Google Shape;148;p17"/>
          <p:cNvGraphicFramePr/>
          <p:nvPr/>
        </p:nvGraphicFramePr>
        <p:xfrm>
          <a:off x="666750" y="2305050"/>
          <a:ext cx="10858500" cy="2619325"/>
        </p:xfrm>
        <a:graphic>
          <a:graphicData uri="http://schemas.openxmlformats.org/drawingml/2006/table">
            <a:tbl>
              <a:tblPr firstRow="1" bandRow="1">
                <a:noFill/>
                <a:tableStyleId>{6ABF08A5-C892-41CB-AA5D-992847094789}</a:tableStyleId>
              </a:tblPr>
              <a:tblGrid>
                <a:gridCol w="316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Relationship Path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Cardinality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Engineering Context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Users → Students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(0...1)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Mandatory unique profile link per account.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Instructors → Courses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One primary owner for multiple learning modules.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Students ↔ Courses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Resolved via specialized Enrollment junction tables.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Courses →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Sequential quizzes tied to a singular course ID.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→ Adaptive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artifacts processed by recommendation engines.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9" name="Google Shape;149;p17"/>
          <p:cNvSpPr/>
          <p:nvPr/>
        </p:nvSpPr>
        <p:spPr>
          <a:xfrm>
            <a:off x="666750" y="3195637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830835" y="3195637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405883" y="3195637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66750" y="3624262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830835" y="3624262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405883" y="3624262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66750" y="4052887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830835" y="4052887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405883" y="4052887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66750" y="4481512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830835" y="4481512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405883" y="4481512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66750" y="4910137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830835" y="4910137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405883" y="4910137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RELATIONSHIP LOGIC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108585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ER ARCHITECTURE &amp; IDENTITY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2695575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UUID Identity Strategy: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utilize Universally Unique Identifiers (UUID) for primary keys instead of integers to enhance security and prevent record prediction.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3871912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Referential Integrity: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Implemented ON DELETE CASCADE for profile metrics to ensure automatic cleanup of dependent student data.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5048250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Junction Tables: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Efficient mapping of student progress across courses using high-speed modules lookup tables.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178F13-0520-D917-4A8C-482A8A5A2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49" y="21648"/>
            <a:ext cx="4953000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350" y="1900237"/>
            <a:ext cx="4152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66750" y="2581275"/>
            <a:ext cx="654081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Safe Schema Engineering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6750" y="3048000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Enum Constrained Types: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Deployed custom enumerated types directly in the DB engine to prevent illegal data entry at the source.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6750" y="3771900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Safe Migrations: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Developed idempotent SQL scripts (IF NOT EXISTS) to allow continuous updates without data loss.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6750" y="4495800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Record Bootstrapping: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Automated procedures to initialize study metrics immediately upon user registration.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1875" y="1909762"/>
            <a:ext cx="41338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PHYSICAL DATABASE EXECUTION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/>
        </p:nvSpPr>
        <p:spPr>
          <a:xfrm>
            <a:off x="7372350" y="2178843"/>
            <a:ext cx="43605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API Logic &amp; Security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372350" y="2636043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Connection Pooling: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Configured pg-pool to manage database connections efficiently under heavy user load.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372350" y="3631406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Authentication Guards: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Middleware layer decrypts Bearer tokens to verify user permissions before data access.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7372350" y="4626768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JSON Payloads: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Optimized API endpoints aggregate complex data (profile, charts, events) into single, predictable response objects.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5. BACKEND PIPELINE &amp; EXPRESS APIS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8C779-145E-C2BC-AADC-CC8B761F9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413281"/>
            <a:ext cx="5403048" cy="5250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507</Words>
  <Application>Microsoft Office PowerPoint</Application>
  <PresentationFormat>Widescreen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Fontebo Achah</dc:creator>
  <cp:lastModifiedBy>Fontebo Achah</cp:lastModifiedBy>
  <cp:revision>3</cp:revision>
  <dcterms:modified xsi:type="dcterms:W3CDTF">2026-06-16T14:36:02Z</dcterms:modified>
</cp:coreProperties>
</file>