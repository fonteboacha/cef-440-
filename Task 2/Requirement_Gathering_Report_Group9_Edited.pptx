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0" r:id="rId10"/>
    <p:sldId id="263" r:id="rId11"/>
    <p:sldId id="269" r:id="rId12"/>
    <p:sldId id="273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A1ADA-75A4-4B8A-9654-92443A06F4E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C275D-7103-47BC-946B-203EDCF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A2E4A"/>
                </a:solidFill>
              </a:rPr>
              <a:t>ONLINE SURVEY (Google Forms)</a:t>
            </a:r>
            <a:r>
              <a:rPr lang="en-US" sz="1200" dirty="0">
                <a:solidFill>
                  <a:srgbClr val="333333"/>
                </a:solidFill>
              </a:rPr>
              <a:t>: A structured questionnaire distributed to students and lecturers to collect quantitative and qualitative data on user experiences, preferences, and challenges.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33333"/>
                </a:solidFill>
              </a:rPr>
              <a:t>• </a:t>
            </a:r>
            <a:r>
              <a:rPr lang="en-US" sz="1200" dirty="0">
                <a:solidFill>
                  <a:srgbClr val="1A2E4A"/>
                </a:solidFill>
              </a:rPr>
              <a:t>OBSERVATION</a:t>
            </a:r>
            <a:r>
              <a:rPr lang="en-US" sz="1200" dirty="0">
                <a:solidFill>
                  <a:srgbClr val="333333"/>
                </a:solidFill>
              </a:rPr>
              <a:t>: Existing platforms like Zoom and Moodle were observed to identify limitations in low-bandwidth environments.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33333"/>
                </a:solidFill>
              </a:rPr>
              <a:t>• </a:t>
            </a:r>
            <a:r>
              <a:rPr lang="en-US" sz="1200" dirty="0">
                <a:solidFill>
                  <a:srgbClr val="1A2E4A"/>
                </a:solidFill>
              </a:rPr>
              <a:t>BRAINSTORMING</a:t>
            </a:r>
            <a:r>
              <a:rPr lang="en-US" sz="1200" dirty="0">
                <a:solidFill>
                  <a:srgbClr val="333333"/>
                </a:solidFill>
              </a:rPr>
              <a:t>: Group discussions held to define adaptive system features such as video quality switching and audio fallback mode.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333333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C275D-7103-47BC-946B-203EDCFDAF1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3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6F10B-1D67-4768-A5A3-7570AF6440AA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1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4960C-BE77-4CFC-B958-E94A5F6AFA7B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4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26836-DB1F-44C7-BACA-B9290CE71FE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0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1122-0E8B-4EE3-8E95-49963B2AD0BC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5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FC1B-8403-4F93-AC64-C00F74DE9CDE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0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24DD-433F-4F93-8BFD-94DD85C18765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9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B45B-976C-42F4-B2DE-4762A8B33B2E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1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D779-2C70-48AD-A42E-32FE3A7F6882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7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1A25-9337-4341-AF08-C6110B463792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1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15F5-BF0E-4C6F-BB04-15FB99E1C899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2299-DE0D-4A88-A507-03DD4E7BCBC1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855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5C12-EBF7-4564-B9C3-ACB0F14316E4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28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4306-31C9-4EC1-B61D-DC024E13580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335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05BA-0CDD-43CF-877A-F266635EC573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04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66544-E266-4A1F-A00E-3DC7954159D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22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EB8B-550D-4915-8ECB-968A8A233E2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9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08E1A-1EB1-45BC-B6F1-EA14BE7ED16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REQUIREMENT GATHERING REPORT</a:t>
            </a:r>
          </a:p>
          <a:p>
            <a:pPr algn="ctr">
              <a:spcBef>
                <a:spcPts val="2000"/>
              </a:spcBef>
              <a:defRPr sz="2400">
                <a:solidFill>
                  <a:srgbClr val="CCCCCC"/>
                </a:solidFill>
              </a:defRPr>
            </a:pPr>
            <a:r>
              <a:t>Adaptive E-Learning Platform Based on Quality of Experience (QoE)</a:t>
            </a:r>
            <a:br/>
            <a:br/>
            <a:r>
              <a:t>UNIVERSITY OF BUEA | FACULTY OF ENGINEERING AND TECHNOLOGY</a:t>
            </a:r>
            <a:br/>
            <a:r>
              <a:t>DEPARTMENT OF COMPUTER ENGINEERING | GROUP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5CDC2-9A61-12EA-6780-0ED0DF94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5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GROUP 9 MEMBERS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MATRICULE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FONTEBO TCHICKNWIGHE ACHAH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FE23A062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ANU ROLENCE AKEM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FE23A013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NEIL AMBAYI MPOCHE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FE23A105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OTANG JANICE OTANG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FE23A134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ASHU ALBERIC BESSONG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FE23A015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AF09C-D7DC-6B28-429F-2D60D146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4237" y="640318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sz="1600" dirty="0"/>
              <a:t>The rapid advancement of digital technologies has significantly transformed the education sector.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• E-learning platforms are essential tools for teaching and learning, enabling access to resources regardless of geographical location.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• However, effectiveness depends on stable internet connectivity, adequate bandwidth, and appropriate digital devices.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>
                <a:solidFill>
                  <a:srgbClr val="333333"/>
                </a:solidFill>
              </a:rPr>
              <a:t>• In </a:t>
            </a:r>
            <a:r>
              <a:rPr sz="1600" b="1" dirty="0">
                <a:solidFill>
                  <a:srgbClr val="1A2E4A"/>
                </a:solidFill>
              </a:rPr>
              <a:t>low-resource environments</a:t>
            </a:r>
            <a:r>
              <a:rPr sz="1600" dirty="0">
                <a:solidFill>
                  <a:srgbClr val="333333"/>
                </a:solidFill>
              </a:rPr>
              <a:t> such as Cameroon and Sub-Saharan Africa, users face challenges including unstable network connectivity, high data costs, limited bandwidth, and low-end devices.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• These constraints result in degraded learning experiences: video buffering, audio latency, session interruptions, and limited content access.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>
                <a:solidFill>
                  <a:srgbClr val="333333"/>
                </a:solidFill>
              </a:rPr>
              <a:t>• This project focuses on the design of an </a:t>
            </a:r>
            <a:r>
              <a:rPr sz="1600" b="1" dirty="0">
                <a:solidFill>
                  <a:srgbClr val="1A2E4A"/>
                </a:solidFill>
              </a:rPr>
              <a:t>adaptive e-learning platform based on Quality of Experience (QoE)</a:t>
            </a:r>
            <a:r>
              <a:rPr sz="1600" dirty="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• The system dynamically adjusts content delivery modes (video, audio, text) based on real-time network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1600" dirty="0">
                <a:solidFill>
                  <a:srgbClr val="333333"/>
                </a:solidFill>
              </a:rPr>
              <a:t>• The </a:t>
            </a:r>
            <a:r>
              <a:rPr sz="1600" b="1" dirty="0">
                <a:solidFill>
                  <a:srgbClr val="1A2E4A"/>
                </a:solidFill>
              </a:rPr>
              <a:t>requirement gathering</a:t>
            </a:r>
            <a:r>
              <a:rPr sz="1600" dirty="0">
                <a:solidFill>
                  <a:srgbClr val="333333"/>
                </a:solidFill>
              </a:rPr>
              <a:t> phase is critical for identifying user needs, system expectations, and contextual challenges.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8F3A3-6F21-60F9-6AEB-88163E38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210" y="622392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STAKEHOLDER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955280" cy="512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• Stakeholders are individuals, groups, or organizations directly involved in, affected by, or interested in the development and use of the system.</a:t>
            </a:r>
            <a:r>
              <a:rPr lang="en-US" sz="2000" b="1" baseline="30000" dirty="0">
                <a:latin typeface="Aptos Display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baseline="30000" dirty="0">
              <a:latin typeface="Aptos Display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baseline="30000" dirty="0">
                <a:latin typeface="Aptos Display"/>
              </a:rPr>
              <a:t> Primary Stakeholders</a:t>
            </a:r>
            <a:r>
              <a:rPr lang="en-US" sz="2800" baseline="30000" dirty="0">
                <a:latin typeface="Aptos Display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baseline="30000" dirty="0">
                <a:latin typeface="Aptos Display"/>
              </a:rPr>
              <a:t>	Students</a:t>
            </a:r>
          </a:p>
          <a:p>
            <a:pPr>
              <a:lnSpc>
                <a:spcPct val="150000"/>
              </a:lnSpc>
            </a:pPr>
            <a:r>
              <a:rPr lang="en-US" sz="2800" baseline="30000" dirty="0">
                <a:latin typeface="Aptos Display"/>
              </a:rPr>
              <a:t>	Lecturers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baseline="30000" dirty="0">
                <a:latin typeface="Aptos Display"/>
              </a:rPr>
              <a:t> Secondary Stakeholders</a:t>
            </a:r>
            <a:r>
              <a:rPr lang="en-US" sz="2800" baseline="30000" dirty="0">
                <a:latin typeface="Aptos Display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aseline="30000" dirty="0">
                <a:latin typeface="Aptos Display"/>
              </a:rPr>
              <a:t> 	University Administration</a:t>
            </a:r>
          </a:p>
          <a:p>
            <a:pPr>
              <a:lnSpc>
                <a:spcPct val="150000"/>
              </a:lnSpc>
            </a:pPr>
            <a:r>
              <a:rPr lang="en-US" sz="2800" baseline="30000" dirty="0">
                <a:latin typeface="Aptos Display"/>
              </a:rPr>
              <a:t>	IT Support Staff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baseline="30000" dirty="0">
                <a:latin typeface="Aptos Display"/>
              </a:rPr>
              <a:t> External Stakeholders</a:t>
            </a:r>
          </a:p>
          <a:p>
            <a:r>
              <a:rPr lang="en-US" sz="2800" baseline="30000" dirty="0">
                <a:latin typeface="Aptos Display"/>
              </a:rPr>
              <a:t> 	Parents / Guardians</a:t>
            </a:r>
          </a:p>
          <a:p>
            <a:r>
              <a:rPr lang="en-US" sz="2800" baseline="30000" dirty="0">
                <a:latin typeface="Aptos Display"/>
              </a:rPr>
              <a:t>	Internet Service Providers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F0B8-8434-727D-87A1-3534501D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250" y="626427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REQUIREMENT GATHERING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9084"/>
            <a:ext cx="8890000" cy="335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/>
              <a:t>Requirement gathering techniques are structured methods used to collect relevant information from stakeholders to define system requirements accurately.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</a:t>
            </a:r>
            <a:r>
              <a:rPr sz="2000" dirty="0">
                <a:solidFill>
                  <a:srgbClr val="1A2E4A"/>
                </a:solidFill>
              </a:rPr>
              <a:t>ONLINE SURVEY (Google Forms)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rgbClr val="333333"/>
                </a:solidFill>
              </a:rPr>
              <a:t>• </a:t>
            </a:r>
            <a:r>
              <a:rPr lang="en-US" sz="2000" dirty="0">
                <a:solidFill>
                  <a:srgbClr val="1A2E4A"/>
                </a:solidFill>
              </a:rPr>
              <a:t>OBSERVATION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</a:t>
            </a:r>
            <a:r>
              <a:rPr sz="2000" dirty="0">
                <a:solidFill>
                  <a:srgbClr val="1A2E4A"/>
                </a:solidFill>
              </a:rPr>
              <a:t>BRAINSTORMING</a:t>
            </a:r>
            <a:endParaRPr sz="2000" dirty="0">
              <a:solidFill>
                <a:srgbClr val="333333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DAE85-E848-78FF-4899-6AA8BA70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210" y="622392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DATA GATHERING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gathering is the systematic process of collecting raw information from stakeholders to understand existing problems and support system design decisions.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was primarily collected through a Google Forms survey distributed to students and lecturers.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COLLECTED DATA CATEGORIES</a:t>
            </a:r>
            <a:r>
              <a:rPr sz="2000">
                <a:solidFill>
                  <a:srgbClr val="333333"/>
                </a:solidFill>
              </a:rPr>
              <a:t>: User role classification, Internet reliability during learning sessions, Preferred content format under poor connectivity, Features expected to improve learning experience, Satisfaction with existing platforms, Perception of challenges in low-resource environments, Device types used, Learning preferences and behavioral patterns, Open-ended suggestions for improvement.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B4EF-926E-4FE3-AAA0-A6E19E7D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210" y="6218237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4.2 DATA OVERVIEW — SURVEY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206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Which best describes you?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How reliable is your </a:t>
            </a:r>
            <a:r>
              <a:rPr sz="2000" b="1" dirty="0">
                <a:solidFill>
                  <a:srgbClr val="1A2E4A"/>
                </a:solidFill>
              </a:rPr>
              <a:t>internet connection</a:t>
            </a:r>
            <a:r>
              <a:rPr sz="2000" dirty="0">
                <a:solidFill>
                  <a:srgbClr val="333333"/>
                </a:solidFill>
              </a:rPr>
              <a:t> during online learning sessions?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During </a:t>
            </a:r>
            <a:r>
              <a:rPr sz="2000" b="1" dirty="0">
                <a:solidFill>
                  <a:srgbClr val="1A2E4A"/>
                </a:solidFill>
              </a:rPr>
              <a:t>poor connectivity</a:t>
            </a:r>
            <a:r>
              <a:rPr sz="2000" dirty="0">
                <a:solidFill>
                  <a:srgbClr val="333333"/>
                </a:solidFill>
              </a:rPr>
              <a:t>, what content format do you prefer?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Which feature would improve your learning experience the most?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What additional suggestions would improve online learning in </a:t>
            </a:r>
            <a:r>
              <a:rPr sz="2000" b="1" dirty="0">
                <a:solidFill>
                  <a:srgbClr val="1A2E4A"/>
                </a:solidFill>
              </a:rPr>
              <a:t>low-resource environments</a:t>
            </a:r>
            <a:r>
              <a:rPr sz="2000" dirty="0">
                <a:solidFill>
                  <a:srgbClr val="333333"/>
                </a:solidFill>
              </a:rPr>
              <a:t>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How satisfied are you with </a:t>
            </a:r>
            <a:r>
              <a:rPr sz="2000" b="1" dirty="0">
                <a:solidFill>
                  <a:srgbClr val="1A2E4A"/>
                </a:solidFill>
              </a:rPr>
              <a:t>existing e-learning platforms</a:t>
            </a:r>
            <a:r>
              <a:rPr sz="2000" dirty="0">
                <a:solidFill>
                  <a:srgbClr val="333333"/>
                </a:solidFill>
              </a:rPr>
              <a:t>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• Do you think students in </a:t>
            </a:r>
            <a:r>
              <a:rPr sz="2000" b="1" dirty="0">
                <a:solidFill>
                  <a:srgbClr val="1A2E4A"/>
                </a:solidFill>
              </a:rPr>
              <a:t>low-resource environments</a:t>
            </a:r>
            <a:r>
              <a:rPr sz="2000" dirty="0">
                <a:solidFill>
                  <a:srgbClr val="333333"/>
                </a:solidFill>
              </a:rPr>
              <a:t> struggle with existing e-learning platforms?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Internet quality of users, Device types, Learning preferences, Challenges faced in online learning.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BF5C3-652D-A912-A250-7A7D4980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336" y="6342152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AE4C-12EE-DF4A-B7F0-0427464BCC17}"/>
              </a:ext>
            </a:extLst>
          </p:cNvPr>
          <p:cNvSpPr txBox="1">
            <a:spLocks/>
          </p:cNvSpPr>
          <p:nvPr/>
        </p:nvSpPr>
        <p:spPr>
          <a:xfrm>
            <a:off x="2200984" y="295855"/>
            <a:ext cx="8025059" cy="71468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collected from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1CA-3395-0F8E-CD9B-2C90CC336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1" t="3968" r="2465" b="4479"/>
          <a:stretch>
            <a:fillRect/>
          </a:stretch>
        </p:blipFill>
        <p:spPr>
          <a:xfrm>
            <a:off x="453474" y="2003548"/>
            <a:ext cx="5760040" cy="33158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20A942-5768-D53C-F478-B5FD1E881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60" y="1841353"/>
            <a:ext cx="5760040" cy="34780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7BB18-2336-C347-41C5-4E5BD503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737" y="622392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64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E6D9-E171-1377-CA02-F585A1B4E34A}"/>
              </a:ext>
            </a:extLst>
          </p:cNvPr>
          <p:cNvSpPr txBox="1">
            <a:spLocks/>
          </p:cNvSpPr>
          <p:nvPr/>
        </p:nvSpPr>
        <p:spPr>
          <a:xfrm>
            <a:off x="3484854" y="352540"/>
            <a:ext cx="5222291" cy="90854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collected from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40751-EE10-3DCB-2413-5F0D995B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82"/>
          <a:stretch>
            <a:fillRect/>
          </a:stretch>
        </p:blipFill>
        <p:spPr>
          <a:xfrm>
            <a:off x="6206168" y="2211698"/>
            <a:ext cx="5731914" cy="3798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F8E20-5D40-DAF7-A269-4DA95127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774" y="622392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" name="Picture 2" descr="Forms response chart. Question title: Do students frequently disconnect during live classes?. Number of responses: 14 responses.">
            <a:extLst>
              <a:ext uri="{FF2B5EF4-FFF2-40B4-BE49-F238E27FC236}">
                <a16:creationId xmlns:a16="http://schemas.microsoft.com/office/drawing/2014/main" id="{80DA4BE8-7316-39DE-2CEA-A00DA1FEF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18" y="2357155"/>
            <a:ext cx="5973180" cy="40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49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cleaning is the process of identifying and correcting inaccuracies, inconsistencies, and incomplete entries to ensure reliability for analysis.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REMOVAL</a:t>
            </a:r>
            <a:r>
              <a:rPr sz="2000">
                <a:solidFill>
                  <a:srgbClr val="333333"/>
                </a:solidFill>
              </a:rPr>
              <a:t> of incomplete or partially filled responses to ensure data integrity.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TRIMMING</a:t>
            </a:r>
            <a:r>
              <a:rPr sz="2000">
                <a:solidFill>
                  <a:srgbClr val="333333"/>
                </a:solidFill>
              </a:rPr>
              <a:t> of leading and trailing whitespace characters to standardize text entries.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IDENTIFICATION AND ELIMINATION</a:t>
            </a:r>
            <a:r>
              <a:rPr sz="2000">
                <a:solidFill>
                  <a:srgbClr val="333333"/>
                </a:solidFill>
              </a:rPr>
              <a:t> of duplicate records to avoid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DETECTION</a:t>
            </a:r>
            <a:r>
              <a:rPr sz="2000">
                <a:solidFill>
                  <a:srgbClr val="333333"/>
                </a:solidFill>
              </a:rPr>
              <a:t> of missing values and replacement with standardized null indicators (NA) where appropriate.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ADJUSTMENT</a:t>
            </a:r>
            <a:r>
              <a:rPr sz="2000">
                <a:solidFill>
                  <a:srgbClr val="333333"/>
                </a:solidFill>
              </a:rPr>
              <a:t> of dataset structure for improved readability and analysis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OUTCOME</a:t>
            </a:r>
            <a:r>
              <a:rPr sz="2000">
                <a:solidFill>
                  <a:srgbClr val="333333"/>
                </a:solidFill>
              </a:rPr>
              <a:t>: The cleaning process resulted in a refined dataset with improved consistency and reduced noise, enhancing reliability of subsequent analysis.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17EC-3B7D-EA9A-AB34-55077DFE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825" y="6218237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6160-E463-2790-50D1-8E6054E6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Data cleaning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9A1787-136E-AA1E-3BF2-14FEE4342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96413"/>
            <a:ext cx="5761219" cy="2975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5FDC0-F174-4D28-E453-EC26DDFA6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715" y="2767319"/>
            <a:ext cx="5817773" cy="310482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CD362D-6603-48E8-E87F-4008252E2DD1}"/>
              </a:ext>
            </a:extLst>
          </p:cNvPr>
          <p:cNvSpPr txBox="1">
            <a:spLocks/>
          </p:cNvSpPr>
          <p:nvPr/>
        </p:nvSpPr>
        <p:spPr>
          <a:xfrm>
            <a:off x="441512" y="1828800"/>
            <a:ext cx="4663440" cy="310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Finding empty spaces to replace them with NA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4222C9-D8B0-0A2C-E175-76081B523877}"/>
              </a:ext>
            </a:extLst>
          </p:cNvPr>
          <p:cNvSpPr txBox="1">
            <a:spLocks/>
          </p:cNvSpPr>
          <p:nvPr/>
        </p:nvSpPr>
        <p:spPr>
          <a:xfrm>
            <a:off x="6283235" y="1828800"/>
            <a:ext cx="4663440" cy="3528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Output after replacing empty spaces with NA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CAFDF9-21AF-BDF5-1EAF-86138A35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985" y="6301244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11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07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CBCD-02A5-5258-1AE0-B46CC191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cleaning process: </a:t>
            </a:r>
            <a:r>
              <a:rPr lang="en-US" sz="4000" b="1" dirty="0"/>
              <a:t>Eliminating duplicates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BAA59A-8D1A-3FA1-F918-CF3155338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9" y="2182949"/>
            <a:ext cx="7150694" cy="3359692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7D8590A-311E-118C-59E2-88ADAE779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37" y="2112963"/>
            <a:ext cx="4822963" cy="33596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162834-EF5B-CA9E-2EE7-46BDD058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6112" y="6223924"/>
            <a:ext cx="683339" cy="365125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060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USER RELUCTANCE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1836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User reluctance refers to behavioral and contextual factors that hinder adoption and consistent use of a system.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KEY BARRIERS IDENTIFIED: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HIGH DATA COSTS</a:t>
            </a:r>
            <a:r>
              <a:rPr sz="2000">
                <a:solidFill>
                  <a:srgbClr val="333333"/>
                </a:solidFill>
              </a:rPr>
              <a:t> significantly limit continuous access to e-learning platforms.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POOR AND UNSTABLE NETWORK CONNECTIVITY</a:t>
            </a:r>
            <a:r>
              <a:rPr sz="2000">
                <a:solidFill>
                  <a:srgbClr val="333333"/>
                </a:solidFill>
              </a:rPr>
              <a:t> discourages active participation in online learning activities.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A SEGMENT OF USERS</a:t>
            </a:r>
            <a:r>
              <a:rPr sz="2000">
                <a:solidFill>
                  <a:srgbClr val="333333"/>
                </a:solidFill>
              </a:rPr>
              <a:t> exhibits a preference for traditional classroom-based learning methods.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LIMITATIONS IN DEVICE CAPABILITIES</a:t>
            </a:r>
            <a:r>
              <a:rPr sz="2000">
                <a:solidFill>
                  <a:srgbClr val="333333"/>
                </a:solidFill>
              </a:rPr>
              <a:t> restrict access to multimedia-rich content.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These findings indicate that both </a:t>
            </a:r>
            <a:r>
              <a:rPr sz="2000" b="1">
                <a:solidFill>
                  <a:srgbClr val="1A2E4A"/>
                </a:solidFill>
              </a:rPr>
              <a:t>infrastructural and behavioral factors</a:t>
            </a:r>
            <a:r>
              <a:rPr sz="2000">
                <a:solidFill>
                  <a:srgbClr val="333333"/>
                </a:solidFill>
              </a:rPr>
              <a:t> influence e-learning adoption in low-resource environments.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32784-1BC3-FAA8-5585-98B30FBC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1297" y="6264275"/>
            <a:ext cx="683339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SUMMARY OF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 requirement gathering process revealed several critical insights relevant to system design: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NETWORK INSTABILITY</a:t>
            </a:r>
            <a:r>
              <a:rPr sz="2000">
                <a:solidFill>
                  <a:srgbClr val="333333"/>
                </a:solidFill>
              </a:rPr>
              <a:t> is the most significant barrier affecting e-learning effectiveness.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Users demonstrate a strong preference for </a:t>
            </a:r>
            <a:r>
              <a:rPr sz="2000" b="1">
                <a:solidFill>
                  <a:srgbClr val="1A2E4A"/>
                </a:solidFill>
              </a:rPr>
              <a:t>LOW-DATA</a:t>
            </a:r>
            <a:r>
              <a:rPr sz="2000">
                <a:solidFill>
                  <a:srgbClr val="333333"/>
                </a:solidFill>
              </a:rPr>
              <a:t> and LIGHTWEIGHT learning solutions.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There is a clear need for </a:t>
            </a:r>
            <a:r>
              <a:rPr sz="2000" b="1">
                <a:solidFill>
                  <a:srgbClr val="1A2E4A"/>
                </a:solidFill>
              </a:rPr>
              <a:t>ADAPTIVE CONTENT DELIVERY MECHANISMS</a:t>
            </a:r>
            <a:r>
              <a:rPr sz="2000">
                <a:solidFill>
                  <a:srgbClr val="333333"/>
                </a:solidFill>
              </a:rPr>
              <a:t> capable of adjusting to network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</a:t>
            </a:r>
            <a:r>
              <a:rPr sz="2000" b="1">
                <a:solidFill>
                  <a:srgbClr val="1A2E4A"/>
                </a:solidFill>
              </a:rPr>
              <a:t>OFFLINE ACCESSIBILITY</a:t>
            </a:r>
            <a:r>
              <a:rPr sz="2000">
                <a:solidFill>
                  <a:srgbClr val="333333"/>
                </a:solidFill>
              </a:rPr>
              <a:t> features are highly demanded by a significant proportion of users.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sz="2000">
                <a:solidFill>
                  <a:srgbClr val="333333"/>
                </a:solidFill>
              </a:rPr>
              <a:t>• These findings provide a foundational basis for the design of an </a:t>
            </a:r>
            <a:r>
              <a:rPr sz="2000" b="1">
                <a:solidFill>
                  <a:srgbClr val="1A2E4A"/>
                </a:solidFill>
              </a:rPr>
              <a:t>adaptive e-learning system tailored to low-resource environments</a:t>
            </a:r>
            <a:r>
              <a:rPr sz="2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4418-7916-9E01-0AD4-A22FE753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250" y="6218237"/>
            <a:ext cx="683339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3000"/>
              </a:spcBef>
              <a:defRPr sz="2800">
                <a:solidFill>
                  <a:srgbClr val="CCCCCC"/>
                </a:solidFill>
              </a:defRPr>
            </a:pPr>
            <a:r>
              <a:t>Adaptive E-Learning Platform Based on QoE</a:t>
            </a:r>
          </a:p>
          <a:p>
            <a:pPr algn="ctr">
              <a:spcBef>
                <a:spcPts val="2000"/>
              </a:spcBef>
              <a:defRPr sz="2000">
                <a:solidFill>
                  <a:srgbClr val="999999"/>
                </a:solidFill>
              </a:defRPr>
            </a:pPr>
            <a:r>
              <a:t>GROUP 9 | UNIVERSITY OF BUEA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E3B2A-A61E-F33B-9BF4-2389FFAE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</TotalTime>
  <Words>964</Words>
  <Application>Microsoft Office PowerPoint</Application>
  <PresentationFormat>Widescreen</PresentationFormat>
  <Paragraphs>105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Tenorite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cleaning process</vt:lpstr>
      <vt:lpstr>Data cleaning process: Eliminating duplicates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Fontebo Achah</cp:lastModifiedBy>
  <cp:revision>5</cp:revision>
  <dcterms:created xsi:type="dcterms:W3CDTF">2013-01-27T09:14:16Z</dcterms:created>
  <dcterms:modified xsi:type="dcterms:W3CDTF">2026-05-13T07:42:27Z</dcterms:modified>
  <cp:category/>
</cp:coreProperties>
</file>