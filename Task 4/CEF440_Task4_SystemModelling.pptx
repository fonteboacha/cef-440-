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20"/>
  </p:notesMasterIdLst>
  <p:sldIdLst>
    <p:sldId id="256" r:id="rId2"/>
    <p:sldId id="257" r:id="rId3"/>
    <p:sldId id="258" r:id="rId4"/>
    <p:sldId id="259" r:id="rId5"/>
    <p:sldId id="271" r:id="rId6"/>
    <p:sldId id="260" r:id="rId7"/>
    <p:sldId id="273" r:id="rId8"/>
    <p:sldId id="261" r:id="rId9"/>
    <p:sldId id="268" r:id="rId10"/>
    <p:sldId id="262" r:id="rId11"/>
    <p:sldId id="269" r:id="rId12"/>
    <p:sldId id="272" r:id="rId13"/>
    <p:sldId id="263" r:id="rId14"/>
    <p:sldId id="270" r:id="rId15"/>
    <p:sldId id="264" r:id="rId16"/>
    <p:sldId id="265" r:id="rId17"/>
    <p:sldId id="266" r:id="rId18"/>
    <p:sldId id="267" r:id="rId19"/>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4F8"/>
    <a:srgbClr val="1322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39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9550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8345493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8039244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3405911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7227051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2603021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4508412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857885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3158373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5518336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3830873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4297549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628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6/2/2026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561867801"/>
      </p:ext>
    </p:extLst>
  </p:cSld>
  <p:clrMap bg1="dk1" tx1="lt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sp>
      <p:sp>
        <p:nvSpPr>
          <p:cNvPr id="4" name="Text 2"/>
          <p:cNvSpPr/>
          <p:nvPr/>
        </p:nvSpPr>
        <p:spPr>
          <a:xfrm>
            <a:off x="365760" y="365760"/>
            <a:ext cx="8229600" cy="365760"/>
          </a:xfrm>
          <a:prstGeom prst="rect">
            <a:avLst/>
          </a:prstGeom>
          <a:noFill/>
          <a:ln/>
        </p:spPr>
        <p:txBody>
          <a:bodyPr wrap="square" rtlCol="0" anchor="ctr"/>
          <a:lstStyle/>
          <a:p>
            <a:pPr marL="0" indent="0">
              <a:buNone/>
            </a:pPr>
            <a:r>
              <a:rPr lang="en-US" sz="1300" i="1" dirty="0">
                <a:solidFill>
                  <a:srgbClr val="14B8A6"/>
                </a:solidFill>
                <a:latin typeface="Calibri" pitchFamily="34" charset="0"/>
                <a:ea typeface="Calibri" pitchFamily="34" charset="-122"/>
                <a:cs typeface="Calibri" pitchFamily="34" charset="-120"/>
              </a:rPr>
              <a:t>CEF440 · Mobile Programming Projects 2025–2026</a:t>
            </a:r>
            <a:endParaRPr lang="en-US" sz="1300" dirty="0"/>
          </a:p>
        </p:txBody>
      </p:sp>
      <p:sp>
        <p:nvSpPr>
          <p:cNvPr id="5" name="Text 3"/>
          <p:cNvSpPr/>
          <p:nvPr/>
        </p:nvSpPr>
        <p:spPr>
          <a:xfrm>
            <a:off x="365760" y="777240"/>
            <a:ext cx="8412480" cy="100584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Task 4</a:t>
            </a:r>
            <a:endParaRPr lang="en-US" sz="5200" dirty="0"/>
          </a:p>
        </p:txBody>
      </p:sp>
      <p:sp>
        <p:nvSpPr>
          <p:cNvPr id="6" name="Text 4"/>
          <p:cNvSpPr/>
          <p:nvPr/>
        </p:nvSpPr>
        <p:spPr>
          <a:xfrm>
            <a:off x="365760" y="1737360"/>
            <a:ext cx="8412480" cy="640080"/>
          </a:xfrm>
          <a:prstGeom prst="rect">
            <a:avLst/>
          </a:prstGeom>
          <a:noFill/>
          <a:ln/>
        </p:spPr>
        <p:txBody>
          <a:bodyPr wrap="square" rtlCol="0" anchor="ctr"/>
          <a:lstStyle/>
          <a:p>
            <a:pPr marL="0" indent="0">
              <a:buNone/>
            </a:pPr>
            <a:r>
              <a:rPr lang="en-US" sz="2800" dirty="0">
                <a:solidFill>
                  <a:srgbClr val="14B8A6"/>
                </a:solidFill>
                <a:latin typeface="Calibri" pitchFamily="34" charset="0"/>
                <a:ea typeface="Calibri" pitchFamily="34" charset="-122"/>
                <a:cs typeface="Calibri" pitchFamily="34" charset="-120"/>
              </a:rPr>
              <a:t>System Modelling &amp; Design</a:t>
            </a:r>
            <a:endParaRPr lang="en-US" sz="2800" dirty="0"/>
          </a:p>
        </p:txBody>
      </p:sp>
      <p:sp>
        <p:nvSpPr>
          <p:cNvPr id="7" name="Text 5"/>
          <p:cNvSpPr/>
          <p:nvPr/>
        </p:nvSpPr>
        <p:spPr>
          <a:xfrm>
            <a:off x="365760" y="2423160"/>
            <a:ext cx="8412480" cy="457200"/>
          </a:xfrm>
          <a:prstGeom prst="rect">
            <a:avLst/>
          </a:prstGeom>
          <a:noFill/>
          <a:ln/>
        </p:spPr>
        <p:txBody>
          <a:bodyPr wrap="square" rtlCol="0" anchor="ctr"/>
          <a:lstStyle/>
          <a:p>
            <a:pPr marL="0" indent="0">
              <a:buNone/>
            </a:pPr>
            <a:r>
              <a:rPr lang="en-US" sz="1500" i="1" dirty="0">
                <a:solidFill>
                  <a:srgbClr val="94A3B8"/>
                </a:solidFill>
                <a:latin typeface="Calibri" pitchFamily="34" charset="0"/>
                <a:ea typeface="Calibri" pitchFamily="34" charset="-122"/>
                <a:cs typeface="Calibri" pitchFamily="34" charset="-120"/>
              </a:rPr>
              <a:t>Adaptive E-learning Platform for Low-Resource Settings</a:t>
            </a:r>
            <a:endParaRPr lang="en-US" sz="1500" dirty="0"/>
          </a:p>
        </p:txBody>
      </p:sp>
      <p:sp>
        <p:nvSpPr>
          <p:cNvPr id="9" name="Text 7"/>
          <p:cNvSpPr/>
          <p:nvPr/>
        </p:nvSpPr>
        <p:spPr>
          <a:xfrm>
            <a:off x="365760" y="3063240"/>
            <a:ext cx="14630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System Modelling</a:t>
            </a:r>
            <a:endParaRPr lang="en-US" sz="1200" dirty="0"/>
          </a:p>
        </p:txBody>
      </p:sp>
      <p:sp>
        <p:nvSpPr>
          <p:cNvPr id="10" name="Shape 8"/>
          <p:cNvSpPr/>
          <p:nvPr/>
        </p:nvSpPr>
        <p:spPr>
          <a:xfrm>
            <a:off x="365760" y="3657600"/>
            <a:ext cx="54864" cy="201168"/>
          </a:xfrm>
          <a:prstGeom prst="rect">
            <a:avLst/>
          </a:prstGeom>
          <a:solidFill>
            <a:srgbClr val="14B8A6"/>
          </a:solidFill>
          <a:ln w="12700">
            <a:solidFill>
              <a:srgbClr val="14B8A6"/>
            </a:solidFill>
            <a:prstDash val="solid"/>
          </a:ln>
        </p:spPr>
      </p:sp>
      <p:sp>
        <p:nvSpPr>
          <p:cNvPr id="11" name="Text 9"/>
          <p:cNvSpPr/>
          <p:nvPr/>
        </p:nvSpPr>
        <p:spPr>
          <a:xfrm>
            <a:off x="502920" y="3657600"/>
            <a:ext cx="3840480" cy="237744"/>
          </a:xfrm>
          <a:prstGeom prst="rect">
            <a:avLst/>
          </a:prstGeom>
          <a:noFill/>
          <a:ln/>
        </p:spPr>
        <p:txBody>
          <a:bodyPr wrap="square" rtlCol="0" anchor="ctr"/>
          <a:lstStyle/>
          <a:p>
            <a:pPr marL="0" indent="0">
              <a:buNone/>
            </a:pPr>
            <a:r>
              <a:rPr lang="en-US" sz="1200" dirty="0">
                <a:solidFill>
                  <a:srgbClr val="F0F4F8"/>
                </a:solidFill>
                <a:latin typeface="Calibri" pitchFamily="34" charset="0"/>
                <a:ea typeface="Calibri" pitchFamily="34" charset="-122"/>
                <a:cs typeface="Calibri" pitchFamily="34" charset="-120"/>
              </a:rPr>
              <a:t>Context Diagram</a:t>
            </a:r>
            <a:endParaRPr lang="en-US" sz="1200" dirty="0"/>
          </a:p>
        </p:txBody>
      </p:sp>
      <p:sp>
        <p:nvSpPr>
          <p:cNvPr id="12" name="Shape 10"/>
          <p:cNvSpPr/>
          <p:nvPr/>
        </p:nvSpPr>
        <p:spPr>
          <a:xfrm>
            <a:off x="365760" y="3986784"/>
            <a:ext cx="54864" cy="201168"/>
          </a:xfrm>
          <a:prstGeom prst="rect">
            <a:avLst/>
          </a:prstGeom>
          <a:solidFill>
            <a:srgbClr val="14B8A6"/>
          </a:solidFill>
          <a:ln w="12700">
            <a:solidFill>
              <a:srgbClr val="14B8A6"/>
            </a:solidFill>
            <a:prstDash val="solid"/>
          </a:ln>
        </p:spPr>
      </p:sp>
      <p:sp>
        <p:nvSpPr>
          <p:cNvPr id="13" name="Text 11"/>
          <p:cNvSpPr/>
          <p:nvPr/>
        </p:nvSpPr>
        <p:spPr>
          <a:xfrm>
            <a:off x="502920" y="3986784"/>
            <a:ext cx="3840480" cy="237744"/>
          </a:xfrm>
          <a:prstGeom prst="rect">
            <a:avLst/>
          </a:prstGeom>
          <a:noFill/>
          <a:ln/>
        </p:spPr>
        <p:txBody>
          <a:bodyPr wrap="square" rtlCol="0" anchor="ctr"/>
          <a:lstStyle/>
          <a:p>
            <a:pPr marL="0" indent="0">
              <a:buNone/>
            </a:pPr>
            <a:r>
              <a:rPr lang="en-US" sz="1200" dirty="0">
                <a:solidFill>
                  <a:srgbClr val="F0F4F8"/>
                </a:solidFill>
                <a:latin typeface="Calibri" pitchFamily="34" charset="0"/>
                <a:ea typeface="Calibri" pitchFamily="34" charset="-122"/>
                <a:cs typeface="Calibri" pitchFamily="34" charset="-120"/>
              </a:rPr>
              <a:t>Dataflow Diagram</a:t>
            </a:r>
            <a:endParaRPr lang="en-US" sz="1200" dirty="0"/>
          </a:p>
        </p:txBody>
      </p:sp>
      <p:sp>
        <p:nvSpPr>
          <p:cNvPr id="14" name="Shape 12"/>
          <p:cNvSpPr/>
          <p:nvPr/>
        </p:nvSpPr>
        <p:spPr>
          <a:xfrm>
            <a:off x="365760" y="4315968"/>
            <a:ext cx="54864" cy="201168"/>
          </a:xfrm>
          <a:prstGeom prst="rect">
            <a:avLst/>
          </a:prstGeom>
          <a:solidFill>
            <a:srgbClr val="14B8A6"/>
          </a:solidFill>
          <a:ln w="12700">
            <a:solidFill>
              <a:srgbClr val="14B8A6"/>
            </a:solidFill>
            <a:prstDash val="solid"/>
          </a:ln>
        </p:spPr>
      </p:sp>
      <p:sp>
        <p:nvSpPr>
          <p:cNvPr id="15" name="Text 13"/>
          <p:cNvSpPr/>
          <p:nvPr/>
        </p:nvSpPr>
        <p:spPr>
          <a:xfrm>
            <a:off x="502920" y="4315968"/>
            <a:ext cx="3840480" cy="237744"/>
          </a:xfrm>
          <a:prstGeom prst="rect">
            <a:avLst/>
          </a:prstGeom>
          <a:noFill/>
          <a:ln/>
        </p:spPr>
        <p:txBody>
          <a:bodyPr wrap="square" rtlCol="0" anchor="ctr"/>
          <a:lstStyle/>
          <a:p>
            <a:pPr marL="0" indent="0">
              <a:buNone/>
            </a:pPr>
            <a:r>
              <a:rPr lang="en-US" sz="1200" dirty="0">
                <a:solidFill>
                  <a:srgbClr val="F0F4F8"/>
                </a:solidFill>
                <a:latin typeface="Calibri" pitchFamily="34" charset="0"/>
                <a:ea typeface="Calibri" pitchFamily="34" charset="-122"/>
                <a:cs typeface="Calibri" pitchFamily="34" charset="-120"/>
              </a:rPr>
              <a:t>Use Case Diagram</a:t>
            </a:r>
            <a:endParaRPr lang="en-US" sz="1200" dirty="0"/>
          </a:p>
        </p:txBody>
      </p:sp>
      <p:sp>
        <p:nvSpPr>
          <p:cNvPr id="16" name="Shape 14"/>
          <p:cNvSpPr/>
          <p:nvPr/>
        </p:nvSpPr>
        <p:spPr>
          <a:xfrm>
            <a:off x="4572000" y="3657600"/>
            <a:ext cx="54864" cy="201168"/>
          </a:xfrm>
          <a:prstGeom prst="rect">
            <a:avLst/>
          </a:prstGeom>
          <a:solidFill>
            <a:srgbClr val="14B8A6"/>
          </a:solidFill>
          <a:ln w="12700">
            <a:solidFill>
              <a:srgbClr val="14B8A6"/>
            </a:solidFill>
            <a:prstDash val="solid"/>
          </a:ln>
        </p:spPr>
      </p:sp>
      <p:sp>
        <p:nvSpPr>
          <p:cNvPr id="17" name="Text 15"/>
          <p:cNvSpPr/>
          <p:nvPr/>
        </p:nvSpPr>
        <p:spPr>
          <a:xfrm>
            <a:off x="4709160" y="3657600"/>
            <a:ext cx="3840480" cy="237744"/>
          </a:xfrm>
          <a:prstGeom prst="rect">
            <a:avLst/>
          </a:prstGeom>
          <a:noFill/>
          <a:ln/>
        </p:spPr>
        <p:txBody>
          <a:bodyPr wrap="square" rtlCol="0" anchor="ctr"/>
          <a:lstStyle/>
          <a:p>
            <a:pPr marL="0" indent="0">
              <a:buNone/>
            </a:pPr>
            <a:r>
              <a:rPr lang="en-US" sz="1200" dirty="0">
                <a:solidFill>
                  <a:srgbClr val="F0F4F8"/>
                </a:solidFill>
                <a:latin typeface="Calibri" pitchFamily="34" charset="0"/>
                <a:ea typeface="Calibri" pitchFamily="34" charset="-122"/>
                <a:cs typeface="Calibri" pitchFamily="34" charset="-120"/>
              </a:rPr>
              <a:t>Sequence Diagram</a:t>
            </a:r>
            <a:endParaRPr lang="en-US" sz="1200" dirty="0"/>
          </a:p>
        </p:txBody>
      </p:sp>
      <p:sp>
        <p:nvSpPr>
          <p:cNvPr id="18" name="Shape 16"/>
          <p:cNvSpPr/>
          <p:nvPr/>
        </p:nvSpPr>
        <p:spPr>
          <a:xfrm>
            <a:off x="4572000" y="3986784"/>
            <a:ext cx="54864" cy="201168"/>
          </a:xfrm>
          <a:prstGeom prst="rect">
            <a:avLst/>
          </a:prstGeom>
          <a:solidFill>
            <a:srgbClr val="14B8A6"/>
          </a:solidFill>
          <a:ln w="12700">
            <a:solidFill>
              <a:srgbClr val="14B8A6"/>
            </a:solidFill>
            <a:prstDash val="solid"/>
          </a:ln>
        </p:spPr>
      </p:sp>
      <p:sp>
        <p:nvSpPr>
          <p:cNvPr id="19" name="Text 17"/>
          <p:cNvSpPr/>
          <p:nvPr/>
        </p:nvSpPr>
        <p:spPr>
          <a:xfrm>
            <a:off x="4709160" y="3986784"/>
            <a:ext cx="3840480" cy="237744"/>
          </a:xfrm>
          <a:prstGeom prst="rect">
            <a:avLst/>
          </a:prstGeom>
          <a:noFill/>
          <a:ln/>
        </p:spPr>
        <p:txBody>
          <a:bodyPr wrap="square" rtlCol="0" anchor="ctr"/>
          <a:lstStyle/>
          <a:p>
            <a:pPr marL="0" indent="0">
              <a:buNone/>
            </a:pPr>
            <a:r>
              <a:rPr lang="en-US" sz="1200" dirty="0">
                <a:solidFill>
                  <a:srgbClr val="F0F4F8"/>
                </a:solidFill>
                <a:latin typeface="Calibri" pitchFamily="34" charset="0"/>
                <a:ea typeface="Calibri" pitchFamily="34" charset="-122"/>
                <a:cs typeface="Calibri" pitchFamily="34" charset="-120"/>
              </a:rPr>
              <a:t>Class Diagram</a:t>
            </a:r>
            <a:endParaRPr lang="en-US" sz="1200" dirty="0"/>
          </a:p>
        </p:txBody>
      </p:sp>
      <p:sp>
        <p:nvSpPr>
          <p:cNvPr id="20" name="Shape 18"/>
          <p:cNvSpPr/>
          <p:nvPr/>
        </p:nvSpPr>
        <p:spPr>
          <a:xfrm>
            <a:off x="4572000" y="4315968"/>
            <a:ext cx="54864" cy="201168"/>
          </a:xfrm>
          <a:prstGeom prst="rect">
            <a:avLst/>
          </a:prstGeom>
          <a:solidFill>
            <a:srgbClr val="14B8A6"/>
          </a:solidFill>
          <a:ln w="12700">
            <a:solidFill>
              <a:srgbClr val="14B8A6"/>
            </a:solidFill>
            <a:prstDash val="solid"/>
          </a:ln>
        </p:spPr>
      </p:sp>
      <p:sp>
        <p:nvSpPr>
          <p:cNvPr id="21" name="Text 19"/>
          <p:cNvSpPr/>
          <p:nvPr/>
        </p:nvSpPr>
        <p:spPr>
          <a:xfrm>
            <a:off x="4709160" y="4315968"/>
            <a:ext cx="3840480" cy="237744"/>
          </a:xfrm>
          <a:prstGeom prst="rect">
            <a:avLst/>
          </a:prstGeom>
          <a:noFill/>
          <a:ln/>
        </p:spPr>
        <p:txBody>
          <a:bodyPr wrap="square" rtlCol="0" anchor="ctr"/>
          <a:lstStyle/>
          <a:p>
            <a:pPr marL="0" indent="0">
              <a:buNone/>
            </a:pPr>
            <a:r>
              <a:rPr lang="en-US" sz="1200" dirty="0">
                <a:solidFill>
                  <a:srgbClr val="F0F4F8"/>
                </a:solidFill>
                <a:latin typeface="Calibri" pitchFamily="34" charset="0"/>
                <a:ea typeface="Calibri" pitchFamily="34" charset="-122"/>
                <a:cs typeface="Calibri" pitchFamily="34" charset="-120"/>
              </a:rPr>
              <a:t>Deployment Diagram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32240"/>
          </a:solidFill>
          <a:ln w="12700">
            <a:solidFill>
              <a:srgbClr val="132240"/>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Task 4: System Modelling &amp; Design</a:t>
            </a:r>
            <a:endParaRPr lang="en-US" sz="2000" dirty="0"/>
          </a:p>
        </p:txBody>
      </p:sp>
      <p:sp>
        <p:nvSpPr>
          <p:cNvPr id="4" name="Text 2"/>
          <p:cNvSpPr/>
          <p:nvPr/>
        </p:nvSpPr>
        <p:spPr>
          <a:xfrm>
            <a:off x="274320" y="868680"/>
            <a:ext cx="8595360" cy="457200"/>
          </a:xfrm>
          <a:prstGeom prst="rect">
            <a:avLst/>
          </a:prstGeom>
          <a:noFill/>
          <a:ln/>
        </p:spPr>
        <p:txBody>
          <a:bodyPr wrap="square" rtlCol="0" anchor="ctr"/>
          <a:lstStyle/>
          <a:p>
            <a:pPr marL="0" indent="0">
              <a:buNone/>
            </a:pPr>
            <a:r>
              <a:rPr lang="en-US" sz="2200" b="1" dirty="0">
                <a:solidFill>
                  <a:srgbClr val="132240"/>
                </a:solidFill>
                <a:latin typeface="Calibri" pitchFamily="34" charset="0"/>
                <a:ea typeface="Calibri" pitchFamily="34" charset="-122"/>
                <a:cs typeface="Calibri" pitchFamily="34" charset="-120"/>
              </a:rPr>
              <a:t>What is system modelling?</a:t>
            </a:r>
            <a:endParaRPr lang="en-US" sz="2200" dirty="0"/>
          </a:p>
        </p:txBody>
      </p:sp>
      <p:sp>
        <p:nvSpPr>
          <p:cNvPr id="5" name="Text 3"/>
          <p:cNvSpPr/>
          <p:nvPr/>
        </p:nvSpPr>
        <p:spPr>
          <a:xfrm>
            <a:off x="274320" y="1371600"/>
            <a:ext cx="8595360" cy="822960"/>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System modelling uses abstract diagrams to represent the structure, behaviour, and deployment of a software system — before any code is written. This helps the team agree on what to build, catch design problems early, and communicate the architecture to stakeholders.</a:t>
            </a:r>
            <a:endParaRPr lang="en-US" sz="1300" dirty="0"/>
          </a:p>
        </p:txBody>
      </p:sp>
      <p:sp>
        <p:nvSpPr>
          <p:cNvPr id="6" name="Shape 4"/>
          <p:cNvSpPr/>
          <p:nvPr/>
        </p:nvSpPr>
        <p:spPr>
          <a:xfrm>
            <a:off x="228600" y="2423160"/>
            <a:ext cx="2743200" cy="320040"/>
          </a:xfrm>
          <a:prstGeom prst="rect">
            <a:avLst/>
          </a:prstGeom>
          <a:solidFill>
            <a:srgbClr val="0D9488"/>
          </a:solidFill>
          <a:ln w="12700">
            <a:solidFill>
              <a:srgbClr val="0D9488"/>
            </a:solidFill>
            <a:prstDash val="solid"/>
          </a:ln>
        </p:spPr>
      </p:sp>
      <p:sp>
        <p:nvSpPr>
          <p:cNvPr id="7" name="Text 5"/>
          <p:cNvSpPr/>
          <p:nvPr/>
        </p:nvSpPr>
        <p:spPr>
          <a:xfrm>
            <a:off x="228600" y="2423160"/>
            <a:ext cx="2743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Clarity</a:t>
            </a:r>
            <a:endParaRPr lang="en-US" sz="1300" dirty="0"/>
          </a:p>
        </p:txBody>
      </p:sp>
      <p:sp>
        <p:nvSpPr>
          <p:cNvPr id="8" name="Shape 6"/>
          <p:cNvSpPr/>
          <p:nvPr/>
        </p:nvSpPr>
        <p:spPr>
          <a:xfrm>
            <a:off x="228600" y="2743200"/>
            <a:ext cx="2743200" cy="1280160"/>
          </a:xfrm>
          <a:prstGeom prst="rect">
            <a:avLst/>
          </a:prstGeom>
          <a:solidFill>
            <a:srgbClr val="FFFFFF"/>
          </a:solidFill>
          <a:ln w="6350">
            <a:solidFill>
              <a:srgbClr val="94A3B8"/>
            </a:solidFill>
            <a:prstDash val="solid"/>
          </a:ln>
        </p:spPr>
      </p:sp>
      <p:sp>
        <p:nvSpPr>
          <p:cNvPr id="9" name="Text 7"/>
          <p:cNvSpPr/>
          <p:nvPr/>
        </p:nvSpPr>
        <p:spPr>
          <a:xfrm>
            <a:off x="292608" y="2834640"/>
            <a:ext cx="2615184" cy="109728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Forces the team to agree on structure and boundaries before implementation begins.</a:t>
            </a:r>
            <a:endParaRPr lang="en-US" sz="1200" dirty="0"/>
          </a:p>
        </p:txBody>
      </p:sp>
      <p:sp>
        <p:nvSpPr>
          <p:cNvPr id="10" name="Shape 8"/>
          <p:cNvSpPr/>
          <p:nvPr/>
        </p:nvSpPr>
        <p:spPr>
          <a:xfrm>
            <a:off x="3172968" y="2423160"/>
            <a:ext cx="2743200" cy="320040"/>
          </a:xfrm>
          <a:prstGeom prst="rect">
            <a:avLst/>
          </a:prstGeom>
          <a:solidFill>
            <a:srgbClr val="1E3A5F"/>
          </a:solidFill>
          <a:ln w="12700">
            <a:solidFill>
              <a:srgbClr val="1E3A5F"/>
            </a:solidFill>
            <a:prstDash val="solid"/>
          </a:ln>
        </p:spPr>
      </p:sp>
      <p:sp>
        <p:nvSpPr>
          <p:cNvPr id="11" name="Text 9"/>
          <p:cNvSpPr/>
          <p:nvPr/>
        </p:nvSpPr>
        <p:spPr>
          <a:xfrm>
            <a:off x="3172968" y="2423160"/>
            <a:ext cx="2743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Communication</a:t>
            </a:r>
            <a:endParaRPr lang="en-US" sz="1300" dirty="0"/>
          </a:p>
        </p:txBody>
      </p:sp>
      <p:sp>
        <p:nvSpPr>
          <p:cNvPr id="12" name="Shape 10"/>
          <p:cNvSpPr/>
          <p:nvPr/>
        </p:nvSpPr>
        <p:spPr>
          <a:xfrm>
            <a:off x="3172968" y="2743200"/>
            <a:ext cx="2743200" cy="1280160"/>
          </a:xfrm>
          <a:prstGeom prst="rect">
            <a:avLst/>
          </a:prstGeom>
          <a:solidFill>
            <a:srgbClr val="FFFFFF"/>
          </a:solidFill>
          <a:ln w="6350">
            <a:solidFill>
              <a:srgbClr val="94A3B8"/>
            </a:solidFill>
            <a:prstDash val="solid"/>
          </a:ln>
        </p:spPr>
      </p:sp>
      <p:sp>
        <p:nvSpPr>
          <p:cNvPr id="13" name="Text 11"/>
          <p:cNvSpPr/>
          <p:nvPr/>
        </p:nvSpPr>
        <p:spPr>
          <a:xfrm>
            <a:off x="3236976" y="2834640"/>
            <a:ext cx="2615184" cy="109728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Gives non-technical stakeholders (lecturers, clients) a visual language for the system.</a:t>
            </a:r>
            <a:endParaRPr lang="en-US" sz="1200" dirty="0"/>
          </a:p>
        </p:txBody>
      </p:sp>
      <p:sp>
        <p:nvSpPr>
          <p:cNvPr id="14" name="Shape 12"/>
          <p:cNvSpPr/>
          <p:nvPr/>
        </p:nvSpPr>
        <p:spPr>
          <a:xfrm>
            <a:off x="6117336" y="2423160"/>
            <a:ext cx="2743200" cy="320040"/>
          </a:xfrm>
          <a:prstGeom prst="rect">
            <a:avLst/>
          </a:prstGeom>
          <a:solidFill>
            <a:srgbClr val="F97316"/>
          </a:solidFill>
          <a:ln w="12700">
            <a:solidFill>
              <a:srgbClr val="F97316"/>
            </a:solidFill>
            <a:prstDash val="solid"/>
          </a:ln>
        </p:spPr>
      </p:sp>
      <p:sp>
        <p:nvSpPr>
          <p:cNvPr id="15" name="Text 13"/>
          <p:cNvSpPr/>
          <p:nvPr/>
        </p:nvSpPr>
        <p:spPr>
          <a:xfrm>
            <a:off x="6117336" y="2423160"/>
            <a:ext cx="2743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Risk reduction</a:t>
            </a:r>
            <a:endParaRPr lang="en-US" sz="1300" dirty="0"/>
          </a:p>
        </p:txBody>
      </p:sp>
      <p:sp>
        <p:nvSpPr>
          <p:cNvPr id="16" name="Shape 14"/>
          <p:cNvSpPr/>
          <p:nvPr/>
        </p:nvSpPr>
        <p:spPr>
          <a:xfrm>
            <a:off x="6117336" y="2743200"/>
            <a:ext cx="2743200" cy="1280160"/>
          </a:xfrm>
          <a:prstGeom prst="rect">
            <a:avLst/>
          </a:prstGeom>
          <a:solidFill>
            <a:srgbClr val="FFFFFF"/>
          </a:solidFill>
          <a:ln w="6350">
            <a:solidFill>
              <a:srgbClr val="94A3B8"/>
            </a:solidFill>
            <a:prstDash val="solid"/>
          </a:ln>
        </p:spPr>
      </p:sp>
      <p:sp>
        <p:nvSpPr>
          <p:cNvPr id="17" name="Text 15"/>
          <p:cNvSpPr/>
          <p:nvPr/>
        </p:nvSpPr>
        <p:spPr>
          <a:xfrm>
            <a:off x="6181344" y="2834640"/>
            <a:ext cx="2615184" cy="109728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Reveals conflicts, missing components, or overloaded dependencies early when changes are cheap.</a:t>
            </a:r>
            <a:endParaRPr lang="en-US" sz="1200" dirty="0"/>
          </a:p>
        </p:txBody>
      </p:sp>
      <p:sp>
        <p:nvSpPr>
          <p:cNvPr id="18" name="Text 16"/>
          <p:cNvSpPr/>
          <p:nvPr/>
        </p:nvSpPr>
        <p:spPr>
          <a:xfrm>
            <a:off x="274320" y="4251960"/>
            <a:ext cx="8595360" cy="457200"/>
          </a:xfrm>
          <a:prstGeom prst="rect">
            <a:avLst/>
          </a:prstGeom>
          <a:noFill/>
          <a:ln/>
        </p:spPr>
        <p:txBody>
          <a:bodyPr wrap="square"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This task covers six UML diagrams across Weeks 7–8, each capturing a different view of the system.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32240"/>
          </a:solidFill>
          <a:ln w="12700">
            <a:solidFill>
              <a:srgbClr val="132240"/>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Project recap</a:t>
            </a:r>
            <a:endParaRPr lang="en-US" sz="2000" dirty="0"/>
          </a:p>
        </p:txBody>
      </p:sp>
      <p:sp>
        <p:nvSpPr>
          <p:cNvPr id="4" name="Text 2"/>
          <p:cNvSpPr/>
          <p:nvPr/>
        </p:nvSpPr>
        <p:spPr>
          <a:xfrm>
            <a:off x="274320" y="822960"/>
            <a:ext cx="8595360" cy="411480"/>
          </a:xfrm>
          <a:prstGeom prst="rect">
            <a:avLst/>
          </a:prstGeom>
          <a:noFill/>
          <a:ln/>
        </p:spPr>
        <p:txBody>
          <a:bodyPr wrap="square" rtlCol="0" anchor="ctr"/>
          <a:lstStyle/>
          <a:p>
            <a:pPr marL="0" indent="0">
              <a:buNone/>
            </a:pPr>
            <a:r>
              <a:rPr lang="en-US" sz="1800" b="1" dirty="0">
                <a:solidFill>
                  <a:srgbClr val="132240"/>
                </a:solidFill>
                <a:latin typeface="Calibri" pitchFamily="34" charset="0"/>
                <a:ea typeface="Calibri" pitchFamily="34" charset="-122"/>
                <a:cs typeface="Calibri" pitchFamily="34" charset="-120"/>
              </a:rPr>
              <a:t>Adaptive E-learning Platform for Low-Resource Settings</a:t>
            </a:r>
            <a:endParaRPr lang="en-US" sz="1800" dirty="0"/>
          </a:p>
        </p:txBody>
      </p:sp>
      <p:sp>
        <p:nvSpPr>
          <p:cNvPr id="5" name="Text 3"/>
          <p:cNvSpPr/>
          <p:nvPr/>
        </p:nvSpPr>
        <p:spPr>
          <a:xfrm>
            <a:off x="274320" y="1325880"/>
            <a:ext cx="8595360" cy="731520"/>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The system must dynamically adapt content delivery to network conditions (bandwidth, latency, packet loss) while maintaining a satisfying Quality of Experience for students and instructors in settings like Cameroon, where mobile data is the primary connection.</a:t>
            </a:r>
            <a:endParaRPr lang="en-US" sz="1250" dirty="0"/>
          </a:p>
        </p:txBody>
      </p:sp>
      <p:sp>
        <p:nvSpPr>
          <p:cNvPr id="6" name="Shape 4"/>
          <p:cNvSpPr/>
          <p:nvPr/>
        </p:nvSpPr>
        <p:spPr>
          <a:xfrm>
            <a:off x="228600" y="2286000"/>
            <a:ext cx="2743200" cy="347472"/>
          </a:xfrm>
          <a:prstGeom prst="rect">
            <a:avLst/>
          </a:prstGeom>
          <a:solidFill>
            <a:srgbClr val="0D9488"/>
          </a:solidFill>
          <a:ln w="12700">
            <a:solidFill>
              <a:srgbClr val="0D9488"/>
            </a:solidFill>
            <a:prstDash val="solid"/>
          </a:ln>
        </p:spPr>
      </p:sp>
      <p:sp>
        <p:nvSpPr>
          <p:cNvPr id="7" name="Text 5"/>
          <p:cNvSpPr/>
          <p:nvPr/>
        </p:nvSpPr>
        <p:spPr>
          <a:xfrm>
            <a:off x="228600" y="2286000"/>
            <a:ext cx="27432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Student</a:t>
            </a:r>
            <a:endParaRPr lang="en-US" sz="1400" dirty="0"/>
          </a:p>
        </p:txBody>
      </p:sp>
      <p:sp>
        <p:nvSpPr>
          <p:cNvPr id="8" name="Shape 6"/>
          <p:cNvSpPr/>
          <p:nvPr/>
        </p:nvSpPr>
        <p:spPr>
          <a:xfrm>
            <a:off x="228600" y="2633472"/>
            <a:ext cx="2743200" cy="1920240"/>
          </a:xfrm>
          <a:prstGeom prst="rect">
            <a:avLst/>
          </a:prstGeom>
          <a:solidFill>
            <a:srgbClr val="FFFFFF"/>
          </a:solidFill>
          <a:ln w="6350">
            <a:solidFill>
              <a:srgbClr val="94A3B8"/>
            </a:solidFill>
            <a:prstDash val="solid"/>
          </a:ln>
        </p:spPr>
      </p:sp>
      <p:sp>
        <p:nvSpPr>
          <p:cNvPr id="9" name="Text 7"/>
          <p:cNvSpPr/>
          <p:nvPr/>
        </p:nvSpPr>
        <p:spPr>
          <a:xfrm>
            <a:off x="320040" y="2706624"/>
            <a:ext cx="2560320" cy="1737360"/>
          </a:xfrm>
          <a:prstGeom prst="rect">
            <a:avLst/>
          </a:prstGeom>
          <a:noFill/>
          <a:ln/>
        </p:spPr>
        <p:txBody>
          <a:bodyPr wrap="square" rtlCol="0" anchor="t"/>
          <a:lstStyle/>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Register &amp; login</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Access courses &amp; content</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Take quizzes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Receive adaptive content</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Download for offline use</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Rate content quality</a:t>
            </a:r>
            <a:endParaRPr lang="en-US" sz="1100" dirty="0"/>
          </a:p>
        </p:txBody>
      </p:sp>
      <p:sp>
        <p:nvSpPr>
          <p:cNvPr id="10" name="Shape 8"/>
          <p:cNvSpPr/>
          <p:nvPr/>
        </p:nvSpPr>
        <p:spPr>
          <a:xfrm>
            <a:off x="3172968" y="2286000"/>
            <a:ext cx="2743200" cy="347472"/>
          </a:xfrm>
          <a:prstGeom prst="rect">
            <a:avLst/>
          </a:prstGeom>
          <a:solidFill>
            <a:srgbClr val="1E3A5F"/>
          </a:solidFill>
          <a:ln w="12700">
            <a:solidFill>
              <a:srgbClr val="1E3A5F"/>
            </a:solidFill>
            <a:prstDash val="solid"/>
          </a:ln>
        </p:spPr>
      </p:sp>
      <p:sp>
        <p:nvSpPr>
          <p:cNvPr id="11" name="Text 9"/>
          <p:cNvSpPr/>
          <p:nvPr/>
        </p:nvSpPr>
        <p:spPr>
          <a:xfrm>
            <a:off x="3172968" y="2286000"/>
            <a:ext cx="27432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Instructor</a:t>
            </a:r>
            <a:endParaRPr lang="en-US" sz="1400" dirty="0"/>
          </a:p>
        </p:txBody>
      </p:sp>
      <p:sp>
        <p:nvSpPr>
          <p:cNvPr id="12" name="Shape 10"/>
          <p:cNvSpPr/>
          <p:nvPr/>
        </p:nvSpPr>
        <p:spPr>
          <a:xfrm>
            <a:off x="3172968" y="2633472"/>
            <a:ext cx="2743200" cy="1920240"/>
          </a:xfrm>
          <a:prstGeom prst="rect">
            <a:avLst/>
          </a:prstGeom>
          <a:solidFill>
            <a:srgbClr val="FFFFFF"/>
          </a:solidFill>
          <a:ln w="6350">
            <a:solidFill>
              <a:srgbClr val="94A3B8"/>
            </a:solidFill>
            <a:prstDash val="solid"/>
          </a:ln>
        </p:spPr>
      </p:sp>
      <p:sp>
        <p:nvSpPr>
          <p:cNvPr id="13" name="Text 11"/>
          <p:cNvSpPr/>
          <p:nvPr/>
        </p:nvSpPr>
        <p:spPr>
          <a:xfrm>
            <a:off x="3264408" y="2706624"/>
            <a:ext cx="2560320" cy="1737360"/>
          </a:xfrm>
          <a:prstGeom prst="rect">
            <a:avLst/>
          </a:prstGeom>
          <a:noFill/>
          <a:ln/>
        </p:spPr>
        <p:txBody>
          <a:bodyPr wrap="square" rtlCol="0" anchor="t"/>
          <a:lstStyle/>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Create &amp; manage courses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Upload content (video, PDF, audio)</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Set learning objectives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View student progress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Manage assessments</a:t>
            </a:r>
            <a:endParaRPr lang="en-US" sz="1100" dirty="0"/>
          </a:p>
        </p:txBody>
      </p:sp>
      <p:sp>
        <p:nvSpPr>
          <p:cNvPr id="14" name="Shape 12"/>
          <p:cNvSpPr/>
          <p:nvPr/>
        </p:nvSpPr>
        <p:spPr>
          <a:xfrm>
            <a:off x="6117336" y="2286000"/>
            <a:ext cx="2743200" cy="347472"/>
          </a:xfrm>
          <a:prstGeom prst="rect">
            <a:avLst/>
          </a:prstGeom>
          <a:solidFill>
            <a:srgbClr val="475569"/>
          </a:solidFill>
          <a:ln w="12700">
            <a:solidFill>
              <a:srgbClr val="475569"/>
            </a:solidFill>
            <a:prstDash val="solid"/>
          </a:ln>
        </p:spPr>
      </p:sp>
      <p:sp>
        <p:nvSpPr>
          <p:cNvPr id="15" name="Text 13"/>
          <p:cNvSpPr/>
          <p:nvPr/>
        </p:nvSpPr>
        <p:spPr>
          <a:xfrm>
            <a:off x="6117336" y="2286000"/>
            <a:ext cx="27432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Administrator</a:t>
            </a:r>
            <a:endParaRPr lang="en-US" sz="1400" dirty="0"/>
          </a:p>
        </p:txBody>
      </p:sp>
      <p:sp>
        <p:nvSpPr>
          <p:cNvPr id="16" name="Shape 14"/>
          <p:cNvSpPr/>
          <p:nvPr/>
        </p:nvSpPr>
        <p:spPr>
          <a:xfrm>
            <a:off x="6117336" y="2633472"/>
            <a:ext cx="2743200" cy="1920240"/>
          </a:xfrm>
          <a:prstGeom prst="rect">
            <a:avLst/>
          </a:prstGeom>
          <a:solidFill>
            <a:srgbClr val="FFFFFF"/>
          </a:solidFill>
          <a:ln w="6350">
            <a:solidFill>
              <a:srgbClr val="94A3B8"/>
            </a:solidFill>
            <a:prstDash val="solid"/>
          </a:ln>
        </p:spPr>
      </p:sp>
      <p:sp>
        <p:nvSpPr>
          <p:cNvPr id="17" name="Text 15"/>
          <p:cNvSpPr/>
          <p:nvPr/>
        </p:nvSpPr>
        <p:spPr>
          <a:xfrm>
            <a:off x="6208776" y="2706624"/>
            <a:ext cx="2560320" cy="1737360"/>
          </a:xfrm>
          <a:prstGeom prst="rect">
            <a:avLst/>
          </a:prstGeom>
          <a:noFill/>
          <a:ln/>
        </p:spPr>
        <p:txBody>
          <a:bodyPr wrap="square" rtlCol="0" anchor="t"/>
          <a:lstStyle/>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Manage users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Monitor system performance</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Configure adaptive settings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Manage QoE thresholds</a:t>
            </a:r>
            <a:endParaRPr lang="en-US" sz="1100" dirty="0"/>
          </a:p>
          <a:p>
            <a:pPr marL="342900" indent="-342900">
              <a:lnSpc>
                <a:spcPct val="150000"/>
              </a:lnSpc>
              <a:buSzPct val="100000"/>
              <a:buChar char="•"/>
            </a:pPr>
            <a:r>
              <a:rPr lang="en-US" sz="1100" dirty="0">
                <a:solidFill>
                  <a:srgbClr val="475569"/>
                </a:solidFill>
                <a:latin typeface="Calibri" pitchFamily="34" charset="0"/>
                <a:ea typeface="Calibri" pitchFamily="34" charset="-122"/>
                <a:cs typeface="Calibri" pitchFamily="34" charset="-120"/>
              </a:rPr>
              <a:t>Generate reports</a:t>
            </a:r>
            <a:endParaRPr lang="en-US" sz="1100" dirty="0"/>
          </a:p>
        </p:txBody>
      </p:sp>
      <p:sp>
        <p:nvSpPr>
          <p:cNvPr id="18" name="Text 16"/>
          <p:cNvSpPr/>
          <p:nvPr/>
        </p:nvSpPr>
        <p:spPr>
          <a:xfrm>
            <a:off x="274320" y="4736592"/>
            <a:ext cx="8595360" cy="274320"/>
          </a:xfrm>
          <a:prstGeom prst="rect">
            <a:avLst/>
          </a:prstGeom>
          <a:noFill/>
          <a:ln/>
        </p:spPr>
        <p:txBody>
          <a:bodyPr wrap="square"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System actors identified during Task 2 requirement gathering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01  Context Diagram</a:t>
            </a:r>
            <a:endParaRPr lang="en-US" sz="2000" dirty="0"/>
          </a:p>
        </p:txBody>
      </p:sp>
      <p:sp>
        <p:nvSpPr>
          <p:cNvPr id="5" name="Text 3"/>
          <p:cNvSpPr/>
          <p:nvPr/>
        </p:nvSpPr>
        <p:spPr>
          <a:xfrm>
            <a:off x="274320" y="1143000"/>
            <a:ext cx="8168222" cy="1325880"/>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It shows the system as a single black box at the centre, showing all external entities that interact with it and the data flows crossing the system boundary. It is the highest-level diagram — no internal detail, only the system boundary and who talks to it.</a:t>
            </a:r>
            <a:endParaRPr lang="en-US" sz="1400" dirty="0"/>
          </a:p>
        </p:txBody>
      </p:sp>
      <p:sp>
        <p:nvSpPr>
          <p:cNvPr id="6" name="Text 4"/>
          <p:cNvSpPr/>
          <p:nvPr/>
        </p:nvSpPr>
        <p:spPr>
          <a:xfrm>
            <a:off x="3542742" y="2713763"/>
            <a:ext cx="1920240" cy="320040"/>
          </a:xfrm>
          <a:prstGeom prst="rect">
            <a:avLst/>
          </a:prstGeom>
          <a:noFill/>
          <a:ln/>
        </p:spPr>
        <p:txBody>
          <a:bodyPr wrap="square" rtlCol="0" anchor="ctr"/>
          <a:lstStyle/>
          <a:p>
            <a:pPr marL="0" indent="0">
              <a:buNone/>
            </a:pPr>
            <a:r>
              <a:rPr lang="en-US" sz="1400" b="1" dirty="0">
                <a:solidFill>
                  <a:srgbClr val="132240"/>
                </a:solidFill>
                <a:latin typeface="Calibri" pitchFamily="34" charset="0"/>
                <a:ea typeface="Calibri" pitchFamily="34" charset="-122"/>
                <a:cs typeface="Calibri" pitchFamily="34" charset="-120"/>
              </a:rPr>
              <a:t>Key external entities</a:t>
            </a:r>
            <a:endParaRPr lang="en-US" sz="1400" dirty="0"/>
          </a:p>
        </p:txBody>
      </p:sp>
      <p:sp>
        <p:nvSpPr>
          <p:cNvPr id="7" name="Text 5"/>
          <p:cNvSpPr/>
          <p:nvPr/>
        </p:nvSpPr>
        <p:spPr>
          <a:xfrm>
            <a:off x="919411" y="3278686"/>
            <a:ext cx="1920240"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Student (mobile client)</a:t>
            </a:r>
            <a:endParaRPr lang="en-US" sz="1150" dirty="0"/>
          </a:p>
        </p:txBody>
      </p:sp>
      <p:sp>
        <p:nvSpPr>
          <p:cNvPr id="8" name="Text 6"/>
          <p:cNvSpPr/>
          <p:nvPr/>
        </p:nvSpPr>
        <p:spPr>
          <a:xfrm>
            <a:off x="919411" y="3754174"/>
            <a:ext cx="2178948"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Instructor (mobile / web client)</a:t>
            </a:r>
            <a:endParaRPr lang="en-US" sz="1150" dirty="0"/>
          </a:p>
        </p:txBody>
      </p:sp>
      <p:sp>
        <p:nvSpPr>
          <p:cNvPr id="9" name="Text 7"/>
          <p:cNvSpPr/>
          <p:nvPr/>
        </p:nvSpPr>
        <p:spPr>
          <a:xfrm>
            <a:off x="3098359" y="3278059"/>
            <a:ext cx="2178948"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Administrator (web dashboard)</a:t>
            </a:r>
            <a:endParaRPr lang="en-US" sz="1150" dirty="0"/>
          </a:p>
        </p:txBody>
      </p:sp>
      <p:sp>
        <p:nvSpPr>
          <p:cNvPr id="10" name="Text 8"/>
          <p:cNvSpPr/>
          <p:nvPr/>
        </p:nvSpPr>
        <p:spPr>
          <a:xfrm>
            <a:off x="3098359" y="3763191"/>
            <a:ext cx="1920240"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Mobile network / ISP</a:t>
            </a:r>
            <a:endParaRPr lang="en-US" sz="1150" dirty="0"/>
          </a:p>
        </p:txBody>
      </p:sp>
      <p:sp>
        <p:nvSpPr>
          <p:cNvPr id="11" name="Text 9"/>
          <p:cNvSpPr/>
          <p:nvPr/>
        </p:nvSpPr>
        <p:spPr>
          <a:xfrm>
            <a:off x="5415585" y="3283508"/>
            <a:ext cx="1920240"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Cloud storage / CDN</a:t>
            </a:r>
            <a:endParaRPr lang="en-US" sz="1150" dirty="0"/>
          </a:p>
        </p:txBody>
      </p:sp>
      <p:sp>
        <p:nvSpPr>
          <p:cNvPr id="12" name="Text 10"/>
          <p:cNvSpPr/>
          <p:nvPr/>
        </p:nvSpPr>
        <p:spPr>
          <a:xfrm>
            <a:off x="5415585" y="3754174"/>
            <a:ext cx="1920240"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  Push notification service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EB30CF-7975-6409-8E0F-E6064D888D0B}"/>
              </a:ext>
            </a:extLst>
          </p:cNvPr>
          <p:cNvPicPr>
            <a:picLocks noChangeAspect="1"/>
          </p:cNvPicPr>
          <p:nvPr/>
        </p:nvPicPr>
        <p:blipFill>
          <a:blip r:embed="rId2"/>
          <a:stretch>
            <a:fillRect/>
          </a:stretch>
        </p:blipFill>
        <p:spPr>
          <a:xfrm>
            <a:off x="948492" y="151935"/>
            <a:ext cx="7068596" cy="4839629"/>
          </a:xfrm>
          <a:prstGeom prst="rect">
            <a:avLst/>
          </a:prstGeom>
        </p:spPr>
      </p:pic>
    </p:spTree>
    <p:extLst>
      <p:ext uri="{BB962C8B-B14F-4D97-AF65-F5344CB8AC3E}">
        <p14:creationId xmlns:p14="http://schemas.microsoft.com/office/powerpoint/2010/main" val="3966002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02  Dataflow Diagram (DFD)</a:t>
            </a:r>
            <a:endParaRPr lang="en-US" sz="2000" dirty="0"/>
          </a:p>
        </p:txBody>
      </p:sp>
      <p:sp>
        <p:nvSpPr>
          <p:cNvPr id="5" name="Text 3"/>
          <p:cNvSpPr/>
          <p:nvPr/>
        </p:nvSpPr>
        <p:spPr>
          <a:xfrm>
            <a:off x="219455" y="923952"/>
            <a:ext cx="8185740" cy="1202213"/>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It shows how data moves through the system — from input by external entities, through processing functions, into and out of data stores. A Level-0 DFD is essentially the context diagram (as shown previously). Level-1 breaks the system into its main processes.</a:t>
            </a:r>
            <a:endParaRPr lang="en-US" sz="1400" dirty="0"/>
          </a:p>
        </p:txBody>
      </p:sp>
      <p:sp>
        <p:nvSpPr>
          <p:cNvPr id="6" name="Text 4"/>
          <p:cNvSpPr/>
          <p:nvPr/>
        </p:nvSpPr>
        <p:spPr>
          <a:xfrm>
            <a:off x="329184" y="2555524"/>
            <a:ext cx="3840480" cy="320040"/>
          </a:xfrm>
          <a:prstGeom prst="rect">
            <a:avLst/>
          </a:prstGeom>
          <a:noFill/>
          <a:ln/>
        </p:spPr>
        <p:txBody>
          <a:bodyPr wrap="square" rtlCol="0" anchor="ctr"/>
          <a:lstStyle/>
          <a:p>
            <a:pPr marL="0" indent="0">
              <a:lnSpc>
                <a:spcPct val="150000"/>
              </a:lnSpc>
              <a:buNone/>
            </a:pPr>
            <a:r>
              <a:rPr lang="en-US" sz="1400" b="1" dirty="0">
                <a:solidFill>
                  <a:srgbClr val="132240"/>
                </a:solidFill>
                <a:latin typeface="Calibri" pitchFamily="34" charset="0"/>
                <a:ea typeface="Calibri" pitchFamily="34" charset="-122"/>
                <a:cs typeface="Calibri" pitchFamily="34" charset="-120"/>
              </a:rPr>
              <a:t>Key processes (Level 1)</a:t>
            </a:r>
            <a:endParaRPr lang="en-US" sz="1400" dirty="0"/>
          </a:p>
        </p:txBody>
      </p:sp>
      <p:sp>
        <p:nvSpPr>
          <p:cNvPr id="7" name="Shape 5"/>
          <p:cNvSpPr/>
          <p:nvPr/>
        </p:nvSpPr>
        <p:spPr>
          <a:xfrm>
            <a:off x="274320" y="3028374"/>
            <a:ext cx="54864" cy="201168"/>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420624" y="3028374"/>
            <a:ext cx="3657600" cy="237744"/>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1.0  User Authentication</a:t>
            </a:r>
            <a:endParaRPr lang="en-US" sz="1400" dirty="0"/>
          </a:p>
        </p:txBody>
      </p:sp>
      <p:sp>
        <p:nvSpPr>
          <p:cNvPr id="9" name="Shape 7"/>
          <p:cNvSpPr/>
          <p:nvPr/>
        </p:nvSpPr>
        <p:spPr>
          <a:xfrm>
            <a:off x="274320" y="3339270"/>
            <a:ext cx="54864" cy="201168"/>
          </a:xfrm>
          <a:prstGeom prst="rect">
            <a:avLst/>
          </a:prstGeom>
          <a:solidFill>
            <a:srgbClr val="0D9488"/>
          </a:solidFill>
          <a:ln w="12700">
            <a:solidFill>
              <a:srgbClr val="0D9488"/>
            </a:solidFill>
            <a:prstDash val="solid"/>
          </a:ln>
        </p:spPr>
      </p:sp>
      <p:sp>
        <p:nvSpPr>
          <p:cNvPr id="10" name="Text 8"/>
          <p:cNvSpPr/>
          <p:nvPr/>
        </p:nvSpPr>
        <p:spPr>
          <a:xfrm>
            <a:off x="420624" y="3339270"/>
            <a:ext cx="3657600" cy="237744"/>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2.0  Course &amp; Content Management</a:t>
            </a:r>
            <a:endParaRPr lang="en-US" sz="1400" dirty="0"/>
          </a:p>
        </p:txBody>
      </p:sp>
      <p:sp>
        <p:nvSpPr>
          <p:cNvPr id="11" name="Shape 9"/>
          <p:cNvSpPr/>
          <p:nvPr/>
        </p:nvSpPr>
        <p:spPr>
          <a:xfrm>
            <a:off x="274320" y="3650166"/>
            <a:ext cx="54864" cy="201168"/>
          </a:xfrm>
          <a:prstGeom prst="rect">
            <a:avLst/>
          </a:prstGeom>
          <a:solidFill>
            <a:srgbClr val="0D9488"/>
          </a:solidFill>
          <a:ln w="12700">
            <a:solidFill>
              <a:srgbClr val="0D9488"/>
            </a:solidFill>
            <a:prstDash val="solid"/>
          </a:ln>
        </p:spPr>
      </p:sp>
      <p:sp>
        <p:nvSpPr>
          <p:cNvPr id="12" name="Text 10"/>
          <p:cNvSpPr/>
          <p:nvPr/>
        </p:nvSpPr>
        <p:spPr>
          <a:xfrm>
            <a:off x="420624" y="3650166"/>
            <a:ext cx="3657600" cy="237744"/>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3.0  QoE Monitoring &amp; Analysis</a:t>
            </a:r>
            <a:endParaRPr lang="en-US" sz="1400" dirty="0"/>
          </a:p>
        </p:txBody>
      </p:sp>
      <p:sp>
        <p:nvSpPr>
          <p:cNvPr id="13" name="Shape 11"/>
          <p:cNvSpPr/>
          <p:nvPr/>
        </p:nvSpPr>
        <p:spPr>
          <a:xfrm>
            <a:off x="3931920" y="3030084"/>
            <a:ext cx="54864" cy="201168"/>
          </a:xfrm>
          <a:prstGeom prst="rect">
            <a:avLst/>
          </a:prstGeom>
          <a:solidFill>
            <a:srgbClr val="0D9488"/>
          </a:solidFill>
          <a:ln w="12700">
            <a:solidFill>
              <a:srgbClr val="0D9488"/>
            </a:solidFill>
            <a:prstDash val="solid"/>
          </a:ln>
        </p:spPr>
      </p:sp>
      <p:sp>
        <p:nvSpPr>
          <p:cNvPr id="14" name="Text 12"/>
          <p:cNvSpPr/>
          <p:nvPr/>
        </p:nvSpPr>
        <p:spPr>
          <a:xfrm>
            <a:off x="4078224" y="3030084"/>
            <a:ext cx="3657600" cy="237744"/>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4.0  Adaptive Engine (content selection)</a:t>
            </a:r>
            <a:endParaRPr lang="en-US" sz="1400" dirty="0"/>
          </a:p>
        </p:txBody>
      </p:sp>
      <p:sp>
        <p:nvSpPr>
          <p:cNvPr id="15" name="Shape 13"/>
          <p:cNvSpPr/>
          <p:nvPr/>
        </p:nvSpPr>
        <p:spPr>
          <a:xfrm>
            <a:off x="3931920" y="3340980"/>
            <a:ext cx="54864" cy="201168"/>
          </a:xfrm>
          <a:prstGeom prst="rect">
            <a:avLst/>
          </a:prstGeom>
          <a:solidFill>
            <a:srgbClr val="0D9488"/>
          </a:solidFill>
          <a:ln w="12700">
            <a:solidFill>
              <a:srgbClr val="0D9488"/>
            </a:solidFill>
            <a:prstDash val="solid"/>
          </a:ln>
        </p:spPr>
      </p:sp>
      <p:sp>
        <p:nvSpPr>
          <p:cNvPr id="16" name="Text 14"/>
          <p:cNvSpPr/>
          <p:nvPr/>
        </p:nvSpPr>
        <p:spPr>
          <a:xfrm>
            <a:off x="4078224" y="3340980"/>
            <a:ext cx="3657600" cy="237744"/>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5.0  Assessment &amp; Progress Tracking</a:t>
            </a:r>
            <a:endParaRPr lang="en-US" sz="1400" dirty="0"/>
          </a:p>
        </p:txBody>
      </p:sp>
      <p:sp>
        <p:nvSpPr>
          <p:cNvPr id="17" name="Shape 15"/>
          <p:cNvSpPr/>
          <p:nvPr/>
        </p:nvSpPr>
        <p:spPr>
          <a:xfrm>
            <a:off x="3931920" y="3651876"/>
            <a:ext cx="54864" cy="201168"/>
          </a:xfrm>
          <a:prstGeom prst="rect">
            <a:avLst/>
          </a:prstGeom>
          <a:solidFill>
            <a:srgbClr val="0D9488"/>
          </a:solidFill>
          <a:ln w="12700">
            <a:solidFill>
              <a:srgbClr val="0D9488"/>
            </a:solidFill>
            <a:prstDash val="solid"/>
          </a:ln>
        </p:spPr>
      </p:sp>
      <p:sp>
        <p:nvSpPr>
          <p:cNvPr id="18" name="Text 16"/>
          <p:cNvSpPr/>
          <p:nvPr/>
        </p:nvSpPr>
        <p:spPr>
          <a:xfrm>
            <a:off x="4078224" y="3651876"/>
            <a:ext cx="3657600" cy="237744"/>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6.0  Offline Content Sync</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C5130D6-0F35-010E-DE88-EC56045B1AB6}"/>
              </a:ext>
            </a:extLst>
          </p:cNvPr>
          <p:cNvSpPr/>
          <p:nvPr/>
        </p:nvSpPr>
        <p:spPr>
          <a:xfrm>
            <a:off x="0" y="0"/>
            <a:ext cx="9144000" cy="685800"/>
          </a:xfrm>
          <a:prstGeom prst="rect">
            <a:avLst/>
          </a:prstGeom>
          <a:solidFill>
            <a:srgbClr val="1E3A5F"/>
          </a:solidFill>
          <a:ln w="12700">
            <a:solidFill>
              <a:srgbClr val="1E3A5F"/>
            </a:solidFill>
            <a:prstDash val="solid"/>
          </a:ln>
        </p:spPr>
      </p:sp>
      <p:sp>
        <p:nvSpPr>
          <p:cNvPr id="3" name="Text 1">
            <a:extLst>
              <a:ext uri="{FF2B5EF4-FFF2-40B4-BE49-F238E27FC236}">
                <a16:creationId xmlns:a16="http://schemas.microsoft.com/office/drawing/2014/main" id="{6CB7B66E-C0DE-BE8D-79B5-395DC89248AE}"/>
              </a:ext>
            </a:extLst>
          </p:cNvPr>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System Dataflow Diagram (DFD)</a:t>
            </a:r>
            <a:endParaRPr lang="en-US" sz="2000" dirty="0"/>
          </a:p>
        </p:txBody>
      </p:sp>
      <p:pic>
        <p:nvPicPr>
          <p:cNvPr id="5" name="Picture 4">
            <a:extLst>
              <a:ext uri="{FF2B5EF4-FFF2-40B4-BE49-F238E27FC236}">
                <a16:creationId xmlns:a16="http://schemas.microsoft.com/office/drawing/2014/main" id="{940E92C9-0EE5-1086-15B7-DE6E0906E35B}"/>
              </a:ext>
            </a:extLst>
          </p:cNvPr>
          <p:cNvPicPr>
            <a:picLocks noChangeAspect="1"/>
          </p:cNvPicPr>
          <p:nvPr/>
        </p:nvPicPr>
        <p:blipFill>
          <a:blip r:embed="rId2"/>
          <a:stretch>
            <a:fillRect/>
          </a:stretch>
        </p:blipFill>
        <p:spPr>
          <a:xfrm>
            <a:off x="917634" y="772026"/>
            <a:ext cx="6152240" cy="4238589"/>
          </a:xfrm>
          <a:prstGeom prst="rect">
            <a:avLst/>
          </a:prstGeom>
        </p:spPr>
      </p:pic>
    </p:spTree>
    <p:extLst>
      <p:ext uri="{BB962C8B-B14F-4D97-AF65-F5344CB8AC3E}">
        <p14:creationId xmlns:p14="http://schemas.microsoft.com/office/powerpoint/2010/main" val="3374201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97316"/>
          </a:solidFill>
          <a:ln w="12700">
            <a:solidFill>
              <a:srgbClr val="F97316"/>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03  Use Case Diagram</a:t>
            </a:r>
            <a:endParaRPr lang="en-US" sz="2000" dirty="0"/>
          </a:p>
        </p:txBody>
      </p:sp>
      <p:sp>
        <p:nvSpPr>
          <p:cNvPr id="5" name="Text 3"/>
          <p:cNvSpPr/>
          <p:nvPr/>
        </p:nvSpPr>
        <p:spPr>
          <a:xfrm>
            <a:off x="262545" y="918972"/>
            <a:ext cx="7717285" cy="914400"/>
          </a:xfrm>
          <a:prstGeom prst="rect">
            <a:avLst/>
          </a:prstGeom>
          <a:noFill/>
          <a:ln/>
        </p:spPr>
        <p:txBody>
          <a:bodyPr wrap="square" rtlCol="0" anchor="ctr"/>
          <a:lstStyle/>
          <a:p>
            <a:pPr marL="0" indent="0">
              <a:lnSpc>
                <a:spcPct val="150000"/>
              </a:lnSpc>
              <a:buNone/>
            </a:pPr>
            <a:r>
              <a:rPr lang="en-US" sz="1200" dirty="0">
                <a:solidFill>
                  <a:srgbClr val="475569"/>
                </a:solidFill>
                <a:latin typeface="Times New Roman" panose="02020603050405020304" pitchFamily="18" charset="0"/>
                <a:ea typeface="Calibri" pitchFamily="34" charset="-122"/>
                <a:cs typeface="Times New Roman" panose="02020603050405020304" pitchFamily="18" charset="0"/>
              </a:rPr>
              <a:t>It shows how each actor interacts with the system through named use cases. The system boundary is an oval containing use cases; actors sit outside it with association lines.</a:t>
            </a:r>
            <a:endParaRPr lang="en-US" sz="1200" dirty="0">
              <a:latin typeface="Times New Roman" panose="02020603050405020304" pitchFamily="18" charset="0"/>
              <a:cs typeface="Times New Roman" panose="02020603050405020304" pitchFamily="18" charset="0"/>
            </a:endParaRPr>
          </a:p>
        </p:txBody>
      </p:sp>
      <p:sp>
        <p:nvSpPr>
          <p:cNvPr id="6" name="Shape 4"/>
          <p:cNvSpPr/>
          <p:nvPr/>
        </p:nvSpPr>
        <p:spPr>
          <a:xfrm>
            <a:off x="274320" y="2079321"/>
            <a:ext cx="1280160" cy="320040"/>
          </a:xfrm>
          <a:prstGeom prst="rect">
            <a:avLst/>
          </a:prstGeom>
          <a:solidFill>
            <a:srgbClr val="132240"/>
          </a:solidFill>
          <a:ln w="12700">
            <a:solidFill>
              <a:srgbClr val="132240"/>
            </a:solidFill>
            <a:prstDash val="solid"/>
          </a:ln>
        </p:spPr>
      </p:sp>
      <p:sp>
        <p:nvSpPr>
          <p:cNvPr id="7" name="Text 5"/>
          <p:cNvSpPr/>
          <p:nvPr/>
        </p:nvSpPr>
        <p:spPr>
          <a:xfrm>
            <a:off x="274320" y="2079321"/>
            <a:ext cx="128016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Actor</a:t>
            </a:r>
            <a:endParaRPr lang="en-US" sz="1100" dirty="0"/>
          </a:p>
        </p:txBody>
      </p:sp>
      <p:sp>
        <p:nvSpPr>
          <p:cNvPr id="8" name="Shape 6"/>
          <p:cNvSpPr/>
          <p:nvPr/>
        </p:nvSpPr>
        <p:spPr>
          <a:xfrm>
            <a:off x="1572768" y="2079321"/>
            <a:ext cx="7296912" cy="320040"/>
          </a:xfrm>
          <a:prstGeom prst="rect">
            <a:avLst/>
          </a:prstGeom>
          <a:solidFill>
            <a:srgbClr val="132240"/>
          </a:solidFill>
          <a:ln w="12700">
            <a:solidFill>
              <a:srgbClr val="132240"/>
            </a:solidFill>
            <a:prstDash val="solid"/>
          </a:ln>
        </p:spPr>
      </p:sp>
      <p:sp>
        <p:nvSpPr>
          <p:cNvPr id="9" name="Text 7"/>
          <p:cNvSpPr/>
          <p:nvPr/>
        </p:nvSpPr>
        <p:spPr>
          <a:xfrm>
            <a:off x="1572768" y="2079321"/>
            <a:ext cx="7296912"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Use cases</a:t>
            </a:r>
            <a:endParaRPr lang="en-US" sz="1100" dirty="0"/>
          </a:p>
        </p:txBody>
      </p:sp>
      <p:sp>
        <p:nvSpPr>
          <p:cNvPr id="10" name="Shape 8"/>
          <p:cNvSpPr/>
          <p:nvPr/>
        </p:nvSpPr>
        <p:spPr>
          <a:xfrm>
            <a:off x="274320" y="2426793"/>
            <a:ext cx="1280160" cy="384048"/>
          </a:xfrm>
          <a:prstGeom prst="rect">
            <a:avLst/>
          </a:prstGeom>
          <a:solidFill>
            <a:srgbClr val="FFFFFF"/>
          </a:solidFill>
          <a:ln w="3810">
            <a:solidFill>
              <a:srgbClr val="94A3B8"/>
            </a:solidFill>
            <a:prstDash val="solid"/>
          </a:ln>
        </p:spPr>
      </p:sp>
      <p:sp>
        <p:nvSpPr>
          <p:cNvPr id="11" name="Text 9"/>
          <p:cNvSpPr/>
          <p:nvPr/>
        </p:nvSpPr>
        <p:spPr>
          <a:xfrm>
            <a:off x="274320" y="2426793"/>
            <a:ext cx="1280160" cy="384048"/>
          </a:xfrm>
          <a:prstGeom prst="rect">
            <a:avLst/>
          </a:prstGeom>
          <a:noFill/>
          <a:ln/>
        </p:spPr>
        <p:txBody>
          <a:bodyPr wrap="square" rtlCol="0" anchor="ctr"/>
          <a:lstStyle/>
          <a:p>
            <a:pPr marL="0" indent="0" algn="ctr">
              <a:buNone/>
            </a:pPr>
            <a:r>
              <a:rPr lang="en-US" sz="1050" b="1" dirty="0">
                <a:solidFill>
                  <a:srgbClr val="132240"/>
                </a:solidFill>
                <a:latin typeface="Calibri" pitchFamily="34" charset="0"/>
                <a:ea typeface="Calibri" pitchFamily="34" charset="-122"/>
                <a:cs typeface="Calibri" pitchFamily="34" charset="-120"/>
              </a:rPr>
              <a:t>Student</a:t>
            </a:r>
            <a:endParaRPr lang="en-US" sz="1050" dirty="0"/>
          </a:p>
        </p:txBody>
      </p:sp>
      <p:sp>
        <p:nvSpPr>
          <p:cNvPr id="12" name="Shape 10"/>
          <p:cNvSpPr/>
          <p:nvPr/>
        </p:nvSpPr>
        <p:spPr>
          <a:xfrm>
            <a:off x="1572768" y="2426793"/>
            <a:ext cx="7296912" cy="384048"/>
          </a:xfrm>
          <a:prstGeom prst="rect">
            <a:avLst/>
          </a:prstGeom>
          <a:solidFill>
            <a:srgbClr val="FFFFFF"/>
          </a:solidFill>
          <a:ln w="3810">
            <a:solidFill>
              <a:srgbClr val="94A3B8"/>
            </a:solidFill>
            <a:prstDash val="solid"/>
          </a:ln>
        </p:spPr>
      </p:sp>
      <p:sp>
        <p:nvSpPr>
          <p:cNvPr id="13" name="Text 11"/>
          <p:cNvSpPr/>
          <p:nvPr/>
        </p:nvSpPr>
        <p:spPr>
          <a:xfrm>
            <a:off x="1664208" y="2426793"/>
            <a:ext cx="7114032" cy="38404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Register/Login · Enroll · View content · Take quiz · Download offline · Rate quality</a:t>
            </a:r>
            <a:endParaRPr lang="en-US" sz="1050" dirty="0"/>
          </a:p>
        </p:txBody>
      </p:sp>
      <p:sp>
        <p:nvSpPr>
          <p:cNvPr id="14" name="Shape 12"/>
          <p:cNvSpPr/>
          <p:nvPr/>
        </p:nvSpPr>
        <p:spPr>
          <a:xfrm>
            <a:off x="274320" y="2829129"/>
            <a:ext cx="1280160" cy="384048"/>
          </a:xfrm>
          <a:prstGeom prst="rect">
            <a:avLst/>
          </a:prstGeom>
          <a:solidFill>
            <a:srgbClr val="EEF2F7"/>
          </a:solidFill>
          <a:ln w="3810">
            <a:solidFill>
              <a:srgbClr val="94A3B8"/>
            </a:solidFill>
            <a:prstDash val="solid"/>
          </a:ln>
        </p:spPr>
      </p:sp>
      <p:sp>
        <p:nvSpPr>
          <p:cNvPr id="15" name="Text 13"/>
          <p:cNvSpPr/>
          <p:nvPr/>
        </p:nvSpPr>
        <p:spPr>
          <a:xfrm>
            <a:off x="274320" y="2829129"/>
            <a:ext cx="1280160" cy="384048"/>
          </a:xfrm>
          <a:prstGeom prst="rect">
            <a:avLst/>
          </a:prstGeom>
          <a:noFill/>
          <a:ln/>
        </p:spPr>
        <p:txBody>
          <a:bodyPr wrap="square" rtlCol="0" anchor="ctr"/>
          <a:lstStyle/>
          <a:p>
            <a:pPr marL="0" indent="0" algn="ctr">
              <a:buNone/>
            </a:pPr>
            <a:r>
              <a:rPr lang="en-US" sz="1050" b="1" dirty="0">
                <a:solidFill>
                  <a:srgbClr val="132240"/>
                </a:solidFill>
                <a:latin typeface="Calibri" pitchFamily="34" charset="0"/>
                <a:ea typeface="Calibri" pitchFamily="34" charset="-122"/>
                <a:cs typeface="Calibri" pitchFamily="34" charset="-120"/>
              </a:rPr>
              <a:t>Instructor</a:t>
            </a:r>
            <a:endParaRPr lang="en-US" sz="1050" dirty="0"/>
          </a:p>
        </p:txBody>
      </p:sp>
      <p:sp>
        <p:nvSpPr>
          <p:cNvPr id="16" name="Shape 14"/>
          <p:cNvSpPr/>
          <p:nvPr/>
        </p:nvSpPr>
        <p:spPr>
          <a:xfrm>
            <a:off x="1572768" y="2829129"/>
            <a:ext cx="7296912" cy="384048"/>
          </a:xfrm>
          <a:prstGeom prst="rect">
            <a:avLst/>
          </a:prstGeom>
          <a:solidFill>
            <a:srgbClr val="EEF2F7"/>
          </a:solidFill>
          <a:ln w="3810">
            <a:solidFill>
              <a:srgbClr val="94A3B8"/>
            </a:solidFill>
            <a:prstDash val="solid"/>
          </a:ln>
        </p:spPr>
      </p:sp>
      <p:sp>
        <p:nvSpPr>
          <p:cNvPr id="17" name="Text 15"/>
          <p:cNvSpPr/>
          <p:nvPr/>
        </p:nvSpPr>
        <p:spPr>
          <a:xfrm>
            <a:off x="1664208" y="2829129"/>
            <a:ext cx="7114032" cy="38404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Register/Login · Create course · Upload content · Set objectives · View progress</a:t>
            </a:r>
            <a:endParaRPr lang="en-US" sz="1050" dirty="0"/>
          </a:p>
        </p:txBody>
      </p:sp>
      <p:sp>
        <p:nvSpPr>
          <p:cNvPr id="18" name="Shape 16"/>
          <p:cNvSpPr/>
          <p:nvPr/>
        </p:nvSpPr>
        <p:spPr>
          <a:xfrm>
            <a:off x="274320" y="3231465"/>
            <a:ext cx="1280160" cy="384048"/>
          </a:xfrm>
          <a:prstGeom prst="rect">
            <a:avLst/>
          </a:prstGeom>
          <a:solidFill>
            <a:srgbClr val="FFFFFF"/>
          </a:solidFill>
          <a:ln w="3810">
            <a:solidFill>
              <a:srgbClr val="94A3B8"/>
            </a:solidFill>
            <a:prstDash val="solid"/>
          </a:ln>
        </p:spPr>
      </p:sp>
      <p:sp>
        <p:nvSpPr>
          <p:cNvPr id="19" name="Text 17"/>
          <p:cNvSpPr/>
          <p:nvPr/>
        </p:nvSpPr>
        <p:spPr>
          <a:xfrm>
            <a:off x="274320" y="3231465"/>
            <a:ext cx="1280160" cy="384048"/>
          </a:xfrm>
          <a:prstGeom prst="rect">
            <a:avLst/>
          </a:prstGeom>
          <a:noFill/>
          <a:ln/>
        </p:spPr>
        <p:txBody>
          <a:bodyPr wrap="square" rtlCol="0" anchor="ctr"/>
          <a:lstStyle/>
          <a:p>
            <a:pPr marL="0" indent="0" algn="ctr">
              <a:buNone/>
            </a:pPr>
            <a:r>
              <a:rPr lang="en-US" sz="1050" b="1" dirty="0">
                <a:solidFill>
                  <a:srgbClr val="132240"/>
                </a:solidFill>
                <a:latin typeface="Calibri" pitchFamily="34" charset="0"/>
                <a:ea typeface="Calibri" pitchFamily="34" charset="-122"/>
                <a:cs typeface="Calibri" pitchFamily="34" charset="-120"/>
              </a:rPr>
              <a:t>Admin</a:t>
            </a:r>
            <a:endParaRPr lang="en-US" sz="1050" dirty="0"/>
          </a:p>
        </p:txBody>
      </p:sp>
      <p:sp>
        <p:nvSpPr>
          <p:cNvPr id="20" name="Shape 18"/>
          <p:cNvSpPr/>
          <p:nvPr/>
        </p:nvSpPr>
        <p:spPr>
          <a:xfrm>
            <a:off x="1572768" y="3231465"/>
            <a:ext cx="7296912" cy="384048"/>
          </a:xfrm>
          <a:prstGeom prst="rect">
            <a:avLst/>
          </a:prstGeom>
          <a:solidFill>
            <a:srgbClr val="FFFFFF"/>
          </a:solidFill>
          <a:ln w="3810">
            <a:solidFill>
              <a:srgbClr val="94A3B8"/>
            </a:solidFill>
            <a:prstDash val="solid"/>
          </a:ln>
        </p:spPr>
      </p:sp>
      <p:sp>
        <p:nvSpPr>
          <p:cNvPr id="21" name="Text 19"/>
          <p:cNvSpPr/>
          <p:nvPr/>
        </p:nvSpPr>
        <p:spPr>
          <a:xfrm>
            <a:off x="1664208" y="3231465"/>
            <a:ext cx="7114032" cy="38404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Manage users · Monitor system · Generate reports · Set QoE thresholds</a:t>
            </a:r>
            <a:endParaRPr lang="en-US" sz="1050" dirty="0"/>
          </a:p>
        </p:txBody>
      </p:sp>
      <p:sp>
        <p:nvSpPr>
          <p:cNvPr id="22" name="Shape 20"/>
          <p:cNvSpPr/>
          <p:nvPr/>
        </p:nvSpPr>
        <p:spPr>
          <a:xfrm>
            <a:off x="274320" y="3633801"/>
            <a:ext cx="1280160" cy="384048"/>
          </a:xfrm>
          <a:prstGeom prst="rect">
            <a:avLst/>
          </a:prstGeom>
          <a:solidFill>
            <a:srgbClr val="EEF2F7"/>
          </a:solidFill>
          <a:ln w="3810">
            <a:solidFill>
              <a:srgbClr val="94A3B8"/>
            </a:solidFill>
            <a:prstDash val="solid"/>
          </a:ln>
        </p:spPr>
      </p:sp>
      <p:sp>
        <p:nvSpPr>
          <p:cNvPr id="23" name="Text 21"/>
          <p:cNvSpPr/>
          <p:nvPr/>
        </p:nvSpPr>
        <p:spPr>
          <a:xfrm>
            <a:off x="274320" y="3633801"/>
            <a:ext cx="1280160" cy="384048"/>
          </a:xfrm>
          <a:prstGeom prst="rect">
            <a:avLst/>
          </a:prstGeom>
          <a:noFill/>
          <a:ln/>
        </p:spPr>
        <p:txBody>
          <a:bodyPr wrap="square" rtlCol="0" anchor="ctr"/>
          <a:lstStyle/>
          <a:p>
            <a:pPr marL="0" indent="0" algn="ctr">
              <a:buNone/>
            </a:pPr>
            <a:r>
              <a:rPr lang="en-US" sz="1050" b="1" dirty="0">
                <a:solidFill>
                  <a:srgbClr val="132240"/>
                </a:solidFill>
                <a:latin typeface="Calibri" pitchFamily="34" charset="0"/>
                <a:ea typeface="Calibri" pitchFamily="34" charset="-122"/>
                <a:cs typeface="Calibri" pitchFamily="34" charset="-120"/>
              </a:rPr>
              <a:t>QoE Monitor</a:t>
            </a:r>
            <a:endParaRPr lang="en-US" sz="1050" dirty="0"/>
          </a:p>
        </p:txBody>
      </p:sp>
      <p:sp>
        <p:nvSpPr>
          <p:cNvPr id="24" name="Shape 22"/>
          <p:cNvSpPr/>
          <p:nvPr/>
        </p:nvSpPr>
        <p:spPr>
          <a:xfrm>
            <a:off x="1572768" y="3633801"/>
            <a:ext cx="7296912" cy="384048"/>
          </a:xfrm>
          <a:prstGeom prst="rect">
            <a:avLst/>
          </a:prstGeom>
          <a:solidFill>
            <a:srgbClr val="EEF2F7"/>
          </a:solidFill>
          <a:ln w="3810">
            <a:solidFill>
              <a:srgbClr val="94A3B8"/>
            </a:solidFill>
            <a:prstDash val="solid"/>
          </a:ln>
        </p:spPr>
      </p:sp>
      <p:sp>
        <p:nvSpPr>
          <p:cNvPr id="25" name="Text 23"/>
          <p:cNvSpPr/>
          <p:nvPr/>
        </p:nvSpPr>
        <p:spPr>
          <a:xfrm>
            <a:off x="1664208" y="3633801"/>
            <a:ext cx="7114032" cy="38404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Monitor bandwidth · Detect device type · Measure latency · Send data to engine</a:t>
            </a:r>
            <a:endParaRPr lang="en-US" sz="1050" dirty="0"/>
          </a:p>
        </p:txBody>
      </p:sp>
      <p:sp>
        <p:nvSpPr>
          <p:cNvPr id="26" name="Shape 24"/>
          <p:cNvSpPr/>
          <p:nvPr/>
        </p:nvSpPr>
        <p:spPr>
          <a:xfrm>
            <a:off x="274320" y="4036137"/>
            <a:ext cx="1280160" cy="384048"/>
          </a:xfrm>
          <a:prstGeom prst="rect">
            <a:avLst/>
          </a:prstGeom>
          <a:solidFill>
            <a:srgbClr val="FFFFFF"/>
          </a:solidFill>
          <a:ln w="3810">
            <a:solidFill>
              <a:srgbClr val="94A3B8"/>
            </a:solidFill>
            <a:prstDash val="solid"/>
          </a:ln>
        </p:spPr>
      </p:sp>
      <p:sp>
        <p:nvSpPr>
          <p:cNvPr id="27" name="Text 25"/>
          <p:cNvSpPr/>
          <p:nvPr/>
        </p:nvSpPr>
        <p:spPr>
          <a:xfrm>
            <a:off x="274320" y="4036137"/>
            <a:ext cx="1280160" cy="384048"/>
          </a:xfrm>
          <a:prstGeom prst="rect">
            <a:avLst/>
          </a:prstGeom>
          <a:noFill/>
          <a:ln/>
        </p:spPr>
        <p:txBody>
          <a:bodyPr wrap="square" rtlCol="0" anchor="ctr"/>
          <a:lstStyle/>
          <a:p>
            <a:pPr marL="0" indent="0" algn="ctr">
              <a:buNone/>
            </a:pPr>
            <a:r>
              <a:rPr lang="en-US" sz="1050" b="1" dirty="0">
                <a:solidFill>
                  <a:srgbClr val="132240"/>
                </a:solidFill>
                <a:latin typeface="Calibri" pitchFamily="34" charset="0"/>
                <a:ea typeface="Calibri" pitchFamily="34" charset="-122"/>
                <a:cs typeface="Calibri" pitchFamily="34" charset="-120"/>
              </a:rPr>
              <a:t>Adaptive Engine</a:t>
            </a:r>
            <a:endParaRPr lang="en-US" sz="1050" dirty="0"/>
          </a:p>
        </p:txBody>
      </p:sp>
      <p:sp>
        <p:nvSpPr>
          <p:cNvPr id="28" name="Shape 26"/>
          <p:cNvSpPr/>
          <p:nvPr/>
        </p:nvSpPr>
        <p:spPr>
          <a:xfrm>
            <a:off x="1572768" y="4036137"/>
            <a:ext cx="7296912" cy="384048"/>
          </a:xfrm>
          <a:prstGeom prst="rect">
            <a:avLst/>
          </a:prstGeom>
          <a:solidFill>
            <a:srgbClr val="FFFFFF"/>
          </a:solidFill>
          <a:ln w="3810">
            <a:solidFill>
              <a:srgbClr val="94A3B8"/>
            </a:solidFill>
            <a:prstDash val="solid"/>
          </a:ln>
        </p:spPr>
      </p:sp>
      <p:sp>
        <p:nvSpPr>
          <p:cNvPr id="29" name="Text 27"/>
          <p:cNvSpPr/>
          <p:nvPr/>
        </p:nvSpPr>
        <p:spPr>
          <a:xfrm>
            <a:off x="1664208" y="4036137"/>
            <a:ext cx="7114032" cy="38404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Analyse QoE data · Select content format · Adjust quality · Recommend path</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B92A251C-23C3-344B-C1D0-0ED55597DE2E}"/>
              </a:ext>
            </a:extLst>
          </p:cNvPr>
          <p:cNvSpPr/>
          <p:nvPr/>
        </p:nvSpPr>
        <p:spPr>
          <a:xfrm>
            <a:off x="0" y="0"/>
            <a:ext cx="9144000" cy="685800"/>
          </a:xfrm>
          <a:prstGeom prst="rect">
            <a:avLst/>
          </a:prstGeom>
          <a:solidFill>
            <a:srgbClr val="F97316"/>
          </a:solidFill>
          <a:ln w="12700">
            <a:solidFill>
              <a:srgbClr val="F97316"/>
            </a:solidFill>
            <a:prstDash val="solid"/>
          </a:ln>
        </p:spPr>
      </p:sp>
      <p:sp>
        <p:nvSpPr>
          <p:cNvPr id="5" name="Text 1">
            <a:extLst>
              <a:ext uri="{FF2B5EF4-FFF2-40B4-BE49-F238E27FC236}">
                <a16:creationId xmlns:a16="http://schemas.microsoft.com/office/drawing/2014/main" id="{14836256-A173-70EB-371A-D8F36AB1DE8B}"/>
              </a:ext>
            </a:extLst>
          </p:cNvPr>
          <p:cNvSpPr/>
          <p:nvPr/>
        </p:nvSpPr>
        <p:spPr>
          <a:xfrm>
            <a:off x="274320" y="0"/>
            <a:ext cx="3070129"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System Use Case Diagram</a:t>
            </a:r>
            <a:endParaRPr lang="en-US" sz="2000" dirty="0"/>
          </a:p>
        </p:txBody>
      </p:sp>
      <p:pic>
        <p:nvPicPr>
          <p:cNvPr id="6" name="Picture 5">
            <a:extLst>
              <a:ext uri="{FF2B5EF4-FFF2-40B4-BE49-F238E27FC236}">
                <a16:creationId xmlns:a16="http://schemas.microsoft.com/office/drawing/2014/main" id="{C5A38C05-930F-9C09-AC74-90F4888B454E}"/>
              </a:ext>
            </a:extLst>
          </p:cNvPr>
          <p:cNvPicPr>
            <a:picLocks noChangeAspect="1"/>
          </p:cNvPicPr>
          <p:nvPr/>
        </p:nvPicPr>
        <p:blipFill>
          <a:blip r:embed="rId2"/>
          <a:stretch>
            <a:fillRect/>
          </a:stretch>
        </p:blipFill>
        <p:spPr>
          <a:xfrm>
            <a:off x="1431857" y="809896"/>
            <a:ext cx="5306811" cy="4244319"/>
          </a:xfrm>
          <a:prstGeom prst="rect">
            <a:avLst/>
          </a:prstGeom>
        </p:spPr>
      </p:pic>
    </p:spTree>
    <p:extLst>
      <p:ext uri="{BB962C8B-B14F-4D97-AF65-F5344CB8AC3E}">
        <p14:creationId xmlns:p14="http://schemas.microsoft.com/office/powerpoint/2010/main" val="855317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59E0B"/>
          </a:solidFill>
          <a:ln w="12700">
            <a:solidFill>
              <a:srgbClr val="F59E0B"/>
            </a:solidFill>
            <a:prstDash val="solid"/>
          </a:ln>
        </p:spPr>
        <p:txBody>
          <a:bodyPr/>
          <a:lstStyle/>
          <a:p>
            <a:endParaRPr lang="en-US" dirty="0"/>
          </a:p>
        </p:txBody>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04  Sequence Diagram</a:t>
            </a:r>
            <a:endParaRPr lang="en-US" sz="2000" dirty="0"/>
          </a:p>
        </p:txBody>
      </p:sp>
      <p:sp>
        <p:nvSpPr>
          <p:cNvPr id="5" name="Text 3"/>
          <p:cNvSpPr/>
          <p:nvPr/>
        </p:nvSpPr>
        <p:spPr>
          <a:xfrm>
            <a:off x="274320" y="1083564"/>
            <a:ext cx="8051924" cy="1005840"/>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It shows the time-ordered exchange of messages between objects for a specific scenario. Lifelines run vertically; arrows show method calls and returns. Good for showing complex time-sensitive interactions like QoE-driven adaptation.</a:t>
            </a:r>
            <a:endParaRPr lang="en-US" sz="1400" dirty="0"/>
          </a:p>
        </p:txBody>
      </p:sp>
      <p:sp>
        <p:nvSpPr>
          <p:cNvPr id="6" name="Text 4"/>
          <p:cNvSpPr/>
          <p:nvPr/>
        </p:nvSpPr>
        <p:spPr>
          <a:xfrm>
            <a:off x="274320" y="2331720"/>
            <a:ext cx="3840480" cy="320040"/>
          </a:xfrm>
          <a:prstGeom prst="rect">
            <a:avLst/>
          </a:prstGeom>
          <a:noFill/>
          <a:ln/>
        </p:spPr>
        <p:txBody>
          <a:bodyPr wrap="square" rtlCol="0" anchor="ctr"/>
          <a:lstStyle/>
          <a:p>
            <a:pPr marL="0" indent="0">
              <a:buNone/>
            </a:pPr>
            <a:r>
              <a:rPr lang="en-US" sz="1400" b="1" dirty="0">
                <a:solidFill>
                  <a:srgbClr val="132240"/>
                </a:solidFill>
                <a:latin typeface="Calibri" pitchFamily="34" charset="0"/>
                <a:ea typeface="Calibri" pitchFamily="34" charset="-122"/>
                <a:cs typeface="Calibri" pitchFamily="34" charset="-120"/>
              </a:rPr>
              <a:t>Scenarios modelled</a:t>
            </a:r>
            <a:endParaRPr lang="en-US" sz="1400" dirty="0"/>
          </a:p>
        </p:txBody>
      </p:sp>
      <p:sp>
        <p:nvSpPr>
          <p:cNvPr id="7" name="Shape 5"/>
          <p:cNvSpPr/>
          <p:nvPr/>
        </p:nvSpPr>
        <p:spPr>
          <a:xfrm>
            <a:off x="274320" y="2743200"/>
            <a:ext cx="274320" cy="256032"/>
          </a:xfrm>
          <a:prstGeom prst="rect">
            <a:avLst/>
          </a:prstGeom>
          <a:solidFill>
            <a:srgbClr val="F59E0B"/>
          </a:solidFill>
          <a:ln w="12700">
            <a:solidFill>
              <a:srgbClr val="F59E0B"/>
            </a:solidFill>
            <a:prstDash val="solid"/>
          </a:ln>
        </p:spPr>
      </p:sp>
      <p:sp>
        <p:nvSpPr>
          <p:cNvPr id="8" name="Text 6"/>
          <p:cNvSpPr/>
          <p:nvPr/>
        </p:nvSpPr>
        <p:spPr>
          <a:xfrm>
            <a:off x="274320" y="2743200"/>
            <a:ext cx="27432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640080" y="2743200"/>
            <a:ext cx="2526866"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Student login and course access</a:t>
            </a:r>
            <a:endParaRPr lang="en-US" sz="1150" dirty="0"/>
          </a:p>
        </p:txBody>
      </p:sp>
      <p:sp>
        <p:nvSpPr>
          <p:cNvPr id="10" name="Shape 8"/>
          <p:cNvSpPr/>
          <p:nvPr/>
        </p:nvSpPr>
        <p:spPr>
          <a:xfrm>
            <a:off x="274320" y="3203821"/>
            <a:ext cx="274320" cy="256032"/>
          </a:xfrm>
          <a:prstGeom prst="rect">
            <a:avLst/>
          </a:prstGeom>
          <a:solidFill>
            <a:srgbClr val="F59E0B"/>
          </a:solidFill>
          <a:ln w="12700">
            <a:solidFill>
              <a:srgbClr val="F59E0B"/>
            </a:solidFill>
            <a:prstDash val="solid"/>
          </a:ln>
        </p:spPr>
      </p:sp>
      <p:sp>
        <p:nvSpPr>
          <p:cNvPr id="11" name="Text 9"/>
          <p:cNvSpPr/>
          <p:nvPr/>
        </p:nvSpPr>
        <p:spPr>
          <a:xfrm>
            <a:off x="274320" y="3203821"/>
            <a:ext cx="27432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640080" y="3207537"/>
            <a:ext cx="3069559"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QoE degradation — adaptive content switch</a:t>
            </a:r>
            <a:endParaRPr lang="en-US" sz="1150" dirty="0"/>
          </a:p>
        </p:txBody>
      </p:sp>
      <p:sp>
        <p:nvSpPr>
          <p:cNvPr id="13" name="Shape 11"/>
          <p:cNvSpPr/>
          <p:nvPr/>
        </p:nvSpPr>
        <p:spPr>
          <a:xfrm>
            <a:off x="274320" y="3647935"/>
            <a:ext cx="274320" cy="256032"/>
          </a:xfrm>
          <a:prstGeom prst="rect">
            <a:avLst/>
          </a:prstGeom>
          <a:solidFill>
            <a:srgbClr val="F59E0B"/>
          </a:solidFill>
          <a:ln w="12700">
            <a:solidFill>
              <a:srgbClr val="F59E0B"/>
            </a:solidFill>
            <a:prstDash val="solid"/>
          </a:ln>
        </p:spPr>
      </p:sp>
      <p:sp>
        <p:nvSpPr>
          <p:cNvPr id="14" name="Text 12"/>
          <p:cNvSpPr/>
          <p:nvPr/>
        </p:nvSpPr>
        <p:spPr>
          <a:xfrm>
            <a:off x="274320" y="3647935"/>
            <a:ext cx="27432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Text 13"/>
          <p:cNvSpPr/>
          <p:nvPr/>
        </p:nvSpPr>
        <p:spPr>
          <a:xfrm>
            <a:off x="640080" y="3647935"/>
            <a:ext cx="2697852"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Instructor uploads video to CDN</a:t>
            </a:r>
            <a:endParaRPr lang="en-US" sz="1150" dirty="0"/>
          </a:p>
        </p:txBody>
      </p:sp>
      <p:sp>
        <p:nvSpPr>
          <p:cNvPr id="16" name="Shape 14"/>
          <p:cNvSpPr/>
          <p:nvPr/>
        </p:nvSpPr>
        <p:spPr>
          <a:xfrm>
            <a:off x="4206240" y="2933217"/>
            <a:ext cx="274320" cy="256032"/>
          </a:xfrm>
          <a:prstGeom prst="rect">
            <a:avLst/>
          </a:prstGeom>
          <a:solidFill>
            <a:srgbClr val="F59E0B"/>
          </a:solidFill>
          <a:ln w="12700">
            <a:solidFill>
              <a:srgbClr val="F59E0B"/>
            </a:solidFill>
            <a:prstDash val="solid"/>
          </a:ln>
        </p:spPr>
      </p:sp>
      <p:sp>
        <p:nvSpPr>
          <p:cNvPr id="17" name="Text 15"/>
          <p:cNvSpPr/>
          <p:nvPr/>
        </p:nvSpPr>
        <p:spPr>
          <a:xfrm>
            <a:off x="4206240" y="2933217"/>
            <a:ext cx="27432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8" name="Text 16"/>
          <p:cNvSpPr/>
          <p:nvPr/>
        </p:nvSpPr>
        <p:spPr>
          <a:xfrm>
            <a:off x="4572000" y="2933217"/>
            <a:ext cx="3474720"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Student takes quiz — progress tracked</a:t>
            </a:r>
            <a:endParaRPr lang="en-US" sz="1150" dirty="0"/>
          </a:p>
        </p:txBody>
      </p:sp>
      <p:sp>
        <p:nvSpPr>
          <p:cNvPr id="19" name="Shape 17"/>
          <p:cNvSpPr/>
          <p:nvPr/>
        </p:nvSpPr>
        <p:spPr>
          <a:xfrm>
            <a:off x="4206240" y="3392498"/>
            <a:ext cx="274320" cy="256032"/>
          </a:xfrm>
          <a:prstGeom prst="rect">
            <a:avLst/>
          </a:prstGeom>
          <a:solidFill>
            <a:srgbClr val="F59E0B"/>
          </a:solidFill>
          <a:ln w="12700">
            <a:solidFill>
              <a:srgbClr val="F59E0B"/>
            </a:solidFill>
            <a:prstDash val="solid"/>
          </a:ln>
        </p:spPr>
      </p:sp>
      <p:sp>
        <p:nvSpPr>
          <p:cNvPr id="20" name="Text 18"/>
          <p:cNvSpPr/>
          <p:nvPr/>
        </p:nvSpPr>
        <p:spPr>
          <a:xfrm>
            <a:off x="4206240" y="3392498"/>
            <a:ext cx="27432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1" name="Text 19"/>
          <p:cNvSpPr/>
          <p:nvPr/>
        </p:nvSpPr>
        <p:spPr>
          <a:xfrm>
            <a:off x="4572000" y="3392498"/>
            <a:ext cx="3474720" cy="2743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Offline download and sync on reconnection</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EF0965EF-334F-31A2-4ADD-B3942BFC65B7}"/>
            </a:ext>
          </a:extLst>
        </p:cNvPr>
        <p:cNvGrpSpPr/>
        <p:nvPr/>
      </p:nvGrpSpPr>
      <p:grpSpPr>
        <a:xfrm>
          <a:off x="0" y="0"/>
          <a:ext cx="0" cy="0"/>
          <a:chOff x="0" y="0"/>
          <a:chExt cx="0" cy="0"/>
        </a:xfrm>
      </p:grpSpPr>
      <p:sp>
        <p:nvSpPr>
          <p:cNvPr id="6" name="Shape 0">
            <a:extLst>
              <a:ext uri="{FF2B5EF4-FFF2-40B4-BE49-F238E27FC236}">
                <a16:creationId xmlns:a16="http://schemas.microsoft.com/office/drawing/2014/main" id="{1BACA8AD-ABBA-DC6C-883D-0F9B28F0EB2B}"/>
              </a:ext>
            </a:extLst>
          </p:cNvPr>
          <p:cNvSpPr/>
          <p:nvPr/>
        </p:nvSpPr>
        <p:spPr>
          <a:xfrm>
            <a:off x="0" y="0"/>
            <a:ext cx="9144000" cy="685800"/>
          </a:xfrm>
          <a:prstGeom prst="rect">
            <a:avLst/>
          </a:prstGeom>
          <a:solidFill>
            <a:srgbClr val="F59E0B"/>
          </a:solidFill>
          <a:ln w="12700">
            <a:solidFill>
              <a:srgbClr val="F59E0B"/>
            </a:solidFill>
            <a:prstDash val="solid"/>
          </a:ln>
        </p:spPr>
        <p:txBody>
          <a:bodyPr/>
          <a:lstStyle/>
          <a:p>
            <a:endParaRPr lang="en-US" dirty="0"/>
          </a:p>
        </p:txBody>
      </p:sp>
      <p:sp>
        <p:nvSpPr>
          <p:cNvPr id="2" name="TextBox 1">
            <a:extLst>
              <a:ext uri="{FF2B5EF4-FFF2-40B4-BE49-F238E27FC236}">
                <a16:creationId xmlns:a16="http://schemas.microsoft.com/office/drawing/2014/main" id="{DCC512B6-18B6-5D35-DA79-B2BDDCCB4B44}"/>
              </a:ext>
            </a:extLst>
          </p:cNvPr>
          <p:cNvSpPr txBox="1"/>
          <p:nvPr/>
        </p:nvSpPr>
        <p:spPr>
          <a:xfrm>
            <a:off x="3091738" y="158234"/>
            <a:ext cx="3413140" cy="400110"/>
          </a:xfrm>
          <a:prstGeom prst="rect">
            <a:avLst/>
          </a:prstGeom>
          <a:noFill/>
        </p:spPr>
        <p:txBody>
          <a:bodyPr wrap="square" rtlCol="0">
            <a:spAutoFit/>
          </a:bodyPr>
          <a:lstStyle/>
          <a:p>
            <a:r>
              <a:rPr lang="en-US" sz="2000" b="1" dirty="0">
                <a:solidFill>
                  <a:srgbClr val="F0F4F8"/>
                </a:solidFill>
              </a:rPr>
              <a:t>Sequence Diagram Examples</a:t>
            </a:r>
          </a:p>
        </p:txBody>
      </p:sp>
      <p:pic>
        <p:nvPicPr>
          <p:cNvPr id="4" name="Picture 3">
            <a:extLst>
              <a:ext uri="{FF2B5EF4-FFF2-40B4-BE49-F238E27FC236}">
                <a16:creationId xmlns:a16="http://schemas.microsoft.com/office/drawing/2014/main" id="{17689A0B-3F66-4189-AD34-3994D8DA63F2}"/>
              </a:ext>
            </a:extLst>
          </p:cNvPr>
          <p:cNvPicPr>
            <a:picLocks noChangeAspect="1"/>
          </p:cNvPicPr>
          <p:nvPr/>
        </p:nvPicPr>
        <p:blipFill>
          <a:blip r:embed="rId2"/>
          <a:stretch>
            <a:fillRect/>
          </a:stretch>
        </p:blipFill>
        <p:spPr>
          <a:xfrm>
            <a:off x="1902592" y="685800"/>
            <a:ext cx="5338815" cy="4006699"/>
          </a:xfrm>
          <a:prstGeom prst="rect">
            <a:avLst/>
          </a:prstGeom>
        </p:spPr>
      </p:pic>
      <p:sp>
        <p:nvSpPr>
          <p:cNvPr id="3" name="TextBox 2">
            <a:extLst>
              <a:ext uri="{FF2B5EF4-FFF2-40B4-BE49-F238E27FC236}">
                <a16:creationId xmlns:a16="http://schemas.microsoft.com/office/drawing/2014/main" id="{6098602D-2002-892F-511B-68152432221C}"/>
              </a:ext>
            </a:extLst>
          </p:cNvPr>
          <p:cNvSpPr txBox="1"/>
          <p:nvPr/>
        </p:nvSpPr>
        <p:spPr>
          <a:xfrm>
            <a:off x="2662006" y="4653614"/>
            <a:ext cx="3819985" cy="338554"/>
          </a:xfrm>
          <a:prstGeom prst="rect">
            <a:avLst/>
          </a:prstGeom>
          <a:noFill/>
        </p:spPr>
        <p:txBody>
          <a:bodyPr wrap="square" rtlCol="0">
            <a:spAutoFit/>
          </a:bodyPr>
          <a:lstStyle/>
          <a:p>
            <a:r>
              <a:rPr lang="en-US" sz="1600" b="1" dirty="0">
                <a:solidFill>
                  <a:srgbClr val="132240"/>
                </a:solidFill>
              </a:rPr>
              <a:t>Example: Student Login Sequence Diagram</a:t>
            </a:r>
          </a:p>
        </p:txBody>
      </p:sp>
    </p:spTree>
    <p:extLst>
      <p:ext uri="{BB962C8B-B14F-4D97-AF65-F5344CB8AC3E}">
        <p14:creationId xmlns:p14="http://schemas.microsoft.com/office/powerpoint/2010/main" val="3038838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4F90FB6E-A267-8868-396B-2116FABBB0D2}"/>
            </a:ext>
          </a:extLst>
        </p:cNvPr>
        <p:cNvGrpSpPr/>
        <p:nvPr/>
      </p:nvGrpSpPr>
      <p:grpSpPr>
        <a:xfrm>
          <a:off x="0" y="0"/>
          <a:ext cx="0" cy="0"/>
          <a:chOff x="0" y="0"/>
          <a:chExt cx="0" cy="0"/>
        </a:xfrm>
      </p:grpSpPr>
      <p:sp>
        <p:nvSpPr>
          <p:cNvPr id="6" name="Shape 0">
            <a:extLst>
              <a:ext uri="{FF2B5EF4-FFF2-40B4-BE49-F238E27FC236}">
                <a16:creationId xmlns:a16="http://schemas.microsoft.com/office/drawing/2014/main" id="{02F17D80-9935-00C1-932E-5282673C6733}"/>
              </a:ext>
            </a:extLst>
          </p:cNvPr>
          <p:cNvSpPr/>
          <p:nvPr/>
        </p:nvSpPr>
        <p:spPr>
          <a:xfrm>
            <a:off x="0" y="0"/>
            <a:ext cx="9144000" cy="685800"/>
          </a:xfrm>
          <a:prstGeom prst="rect">
            <a:avLst/>
          </a:prstGeom>
          <a:solidFill>
            <a:srgbClr val="F59E0B"/>
          </a:solidFill>
          <a:ln w="12700">
            <a:solidFill>
              <a:srgbClr val="F59E0B"/>
            </a:solidFill>
            <a:prstDash val="solid"/>
          </a:ln>
        </p:spPr>
        <p:txBody>
          <a:bodyPr/>
          <a:lstStyle/>
          <a:p>
            <a:endParaRPr lang="en-US" dirty="0"/>
          </a:p>
        </p:txBody>
      </p:sp>
      <p:sp>
        <p:nvSpPr>
          <p:cNvPr id="2" name="TextBox 1">
            <a:extLst>
              <a:ext uri="{FF2B5EF4-FFF2-40B4-BE49-F238E27FC236}">
                <a16:creationId xmlns:a16="http://schemas.microsoft.com/office/drawing/2014/main" id="{17506936-4907-A442-559D-39497F947827}"/>
              </a:ext>
            </a:extLst>
          </p:cNvPr>
          <p:cNvSpPr txBox="1"/>
          <p:nvPr/>
        </p:nvSpPr>
        <p:spPr>
          <a:xfrm>
            <a:off x="3091738" y="158234"/>
            <a:ext cx="3413140" cy="400110"/>
          </a:xfrm>
          <a:prstGeom prst="rect">
            <a:avLst/>
          </a:prstGeom>
          <a:noFill/>
        </p:spPr>
        <p:txBody>
          <a:bodyPr wrap="square" rtlCol="0">
            <a:spAutoFit/>
          </a:bodyPr>
          <a:lstStyle/>
          <a:p>
            <a:r>
              <a:rPr lang="en-US" sz="2000" b="1" dirty="0">
                <a:solidFill>
                  <a:srgbClr val="F0F4F8"/>
                </a:solidFill>
              </a:rPr>
              <a:t>Sequence Diagram Examples</a:t>
            </a:r>
          </a:p>
        </p:txBody>
      </p:sp>
      <p:pic>
        <p:nvPicPr>
          <p:cNvPr id="5" name="Picture 4">
            <a:extLst>
              <a:ext uri="{FF2B5EF4-FFF2-40B4-BE49-F238E27FC236}">
                <a16:creationId xmlns:a16="http://schemas.microsoft.com/office/drawing/2014/main" id="{02B384DD-C898-29B8-1D81-012172241F79}"/>
              </a:ext>
            </a:extLst>
          </p:cNvPr>
          <p:cNvPicPr>
            <a:picLocks noChangeAspect="1"/>
          </p:cNvPicPr>
          <p:nvPr/>
        </p:nvPicPr>
        <p:blipFill>
          <a:blip r:embed="rId2"/>
          <a:stretch>
            <a:fillRect/>
          </a:stretch>
        </p:blipFill>
        <p:spPr>
          <a:xfrm>
            <a:off x="371475" y="714375"/>
            <a:ext cx="8401050" cy="3714750"/>
          </a:xfrm>
          <a:prstGeom prst="rect">
            <a:avLst/>
          </a:prstGeom>
        </p:spPr>
      </p:pic>
      <p:sp>
        <p:nvSpPr>
          <p:cNvPr id="7" name="TextBox 6">
            <a:extLst>
              <a:ext uri="{FF2B5EF4-FFF2-40B4-BE49-F238E27FC236}">
                <a16:creationId xmlns:a16="http://schemas.microsoft.com/office/drawing/2014/main" id="{DD256A44-7129-BB5C-E26A-560167239B28}"/>
              </a:ext>
            </a:extLst>
          </p:cNvPr>
          <p:cNvSpPr txBox="1"/>
          <p:nvPr/>
        </p:nvSpPr>
        <p:spPr>
          <a:xfrm>
            <a:off x="1711096" y="4457700"/>
            <a:ext cx="6174423" cy="338554"/>
          </a:xfrm>
          <a:prstGeom prst="rect">
            <a:avLst/>
          </a:prstGeom>
          <a:noFill/>
        </p:spPr>
        <p:txBody>
          <a:bodyPr wrap="square" rtlCol="0">
            <a:spAutoFit/>
          </a:bodyPr>
          <a:lstStyle/>
          <a:p>
            <a:r>
              <a:rPr lang="en-US" sz="1600" b="1" dirty="0">
                <a:solidFill>
                  <a:srgbClr val="132240"/>
                </a:solidFill>
              </a:rPr>
              <a:t>Example: QoE Monitoring and Dynamic Adaptation Sequence Diagram</a:t>
            </a:r>
          </a:p>
        </p:txBody>
      </p:sp>
    </p:spTree>
    <p:extLst>
      <p:ext uri="{BB962C8B-B14F-4D97-AF65-F5344CB8AC3E}">
        <p14:creationId xmlns:p14="http://schemas.microsoft.com/office/powerpoint/2010/main" val="4059933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32240"/>
          </a:solidFill>
          <a:ln w="12700">
            <a:solidFill>
              <a:srgbClr val="132240"/>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05  Class Diagram</a:t>
            </a:r>
            <a:endParaRPr lang="en-US" sz="2000" dirty="0"/>
          </a:p>
        </p:txBody>
      </p:sp>
      <p:sp>
        <p:nvSpPr>
          <p:cNvPr id="4" name="Text 2"/>
          <p:cNvSpPr/>
          <p:nvPr/>
        </p:nvSpPr>
        <p:spPr>
          <a:xfrm>
            <a:off x="274320" y="822960"/>
            <a:ext cx="3657600" cy="320040"/>
          </a:xfrm>
          <a:prstGeom prst="rect">
            <a:avLst/>
          </a:prstGeom>
          <a:noFill/>
          <a:ln/>
        </p:spPr>
        <p:txBody>
          <a:bodyPr wrap="square" rtlCol="0" anchor="ctr"/>
          <a:lstStyle/>
          <a:p>
            <a:pPr marL="0" indent="0">
              <a:buNone/>
            </a:pPr>
            <a:r>
              <a:rPr lang="en-US" sz="1400" b="1" dirty="0">
                <a:solidFill>
                  <a:srgbClr val="132240"/>
                </a:solidFill>
                <a:latin typeface="Calibri" pitchFamily="34" charset="0"/>
                <a:ea typeface="Calibri" pitchFamily="34" charset="-122"/>
                <a:cs typeface="Calibri" pitchFamily="34" charset="-120"/>
              </a:rPr>
              <a:t>What it shows</a:t>
            </a:r>
            <a:endParaRPr lang="en-US" sz="1400" dirty="0"/>
          </a:p>
        </p:txBody>
      </p:sp>
      <p:sp>
        <p:nvSpPr>
          <p:cNvPr id="5" name="Text 3"/>
          <p:cNvSpPr/>
          <p:nvPr/>
        </p:nvSpPr>
        <p:spPr>
          <a:xfrm>
            <a:off x="274320" y="1188720"/>
            <a:ext cx="6928146" cy="822960"/>
          </a:xfrm>
          <a:prstGeom prst="rect">
            <a:avLst/>
          </a:prstGeom>
          <a:noFill/>
          <a:ln/>
        </p:spPr>
        <p:txBody>
          <a:bodyPr wrap="square" rtlCol="0" anchor="ctr"/>
          <a:lstStyle/>
          <a:p>
            <a:pPr marL="0" indent="0">
              <a:lnSpc>
                <a:spcPct val="150000"/>
              </a:lnSpc>
              <a:buNone/>
            </a:pPr>
            <a:r>
              <a:rPr lang="en-US" sz="1200" dirty="0">
                <a:solidFill>
                  <a:srgbClr val="475569"/>
                </a:solidFill>
                <a:latin typeface="Calibri" pitchFamily="34" charset="0"/>
                <a:ea typeface="Calibri" pitchFamily="34" charset="-122"/>
                <a:cs typeface="Calibri" pitchFamily="34" charset="-120"/>
              </a:rPr>
              <a:t>The static structure: classes, their attributes and operations, and the relationships between them (association, inheritance, aggregation, dependency). This directly maps to the objects defined in Task 2.</a:t>
            </a:r>
            <a:endParaRPr lang="en-US" sz="1200" dirty="0"/>
          </a:p>
        </p:txBody>
      </p:sp>
      <p:sp>
        <p:nvSpPr>
          <p:cNvPr id="6" name="Shape 4"/>
          <p:cNvSpPr/>
          <p:nvPr/>
        </p:nvSpPr>
        <p:spPr>
          <a:xfrm>
            <a:off x="274320" y="2121408"/>
            <a:ext cx="1463040" cy="274320"/>
          </a:xfrm>
          <a:prstGeom prst="rect">
            <a:avLst/>
          </a:prstGeom>
          <a:solidFill>
            <a:srgbClr val="132240"/>
          </a:solidFill>
          <a:ln w="12700">
            <a:solidFill>
              <a:srgbClr val="132240"/>
            </a:solidFill>
            <a:prstDash val="solid"/>
          </a:ln>
        </p:spPr>
      </p:sp>
      <p:sp>
        <p:nvSpPr>
          <p:cNvPr id="7" name="Text 5"/>
          <p:cNvSpPr/>
          <p:nvPr/>
        </p:nvSpPr>
        <p:spPr>
          <a:xfrm>
            <a:off x="274320" y="2121408"/>
            <a:ext cx="146304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Class</a:t>
            </a:r>
            <a:endParaRPr lang="en-US" sz="1000" dirty="0"/>
          </a:p>
        </p:txBody>
      </p:sp>
      <p:sp>
        <p:nvSpPr>
          <p:cNvPr id="8" name="Shape 6"/>
          <p:cNvSpPr/>
          <p:nvPr/>
        </p:nvSpPr>
        <p:spPr>
          <a:xfrm>
            <a:off x="1755648" y="2121408"/>
            <a:ext cx="2798064" cy="274320"/>
          </a:xfrm>
          <a:prstGeom prst="rect">
            <a:avLst/>
          </a:prstGeom>
          <a:solidFill>
            <a:srgbClr val="132240"/>
          </a:solidFill>
          <a:ln w="12700">
            <a:solidFill>
              <a:srgbClr val="132240"/>
            </a:solidFill>
            <a:prstDash val="solid"/>
          </a:ln>
        </p:spPr>
      </p:sp>
      <p:sp>
        <p:nvSpPr>
          <p:cNvPr id="9" name="Text 7"/>
          <p:cNvSpPr/>
          <p:nvPr/>
        </p:nvSpPr>
        <p:spPr>
          <a:xfrm>
            <a:off x="1755648" y="2121408"/>
            <a:ext cx="3182112"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Key attributes</a:t>
            </a:r>
            <a:endParaRPr lang="en-US" sz="1000" dirty="0"/>
          </a:p>
        </p:txBody>
      </p:sp>
      <p:sp>
        <p:nvSpPr>
          <p:cNvPr id="10" name="Shape 8"/>
          <p:cNvSpPr/>
          <p:nvPr/>
        </p:nvSpPr>
        <p:spPr>
          <a:xfrm>
            <a:off x="274320" y="2414016"/>
            <a:ext cx="1463040" cy="256032"/>
          </a:xfrm>
          <a:prstGeom prst="rect">
            <a:avLst/>
          </a:prstGeom>
          <a:solidFill>
            <a:srgbClr val="FFFFFF"/>
          </a:solidFill>
          <a:ln w="3810">
            <a:solidFill>
              <a:srgbClr val="94A3B8"/>
            </a:solidFill>
            <a:prstDash val="solid"/>
          </a:ln>
        </p:spPr>
      </p:sp>
      <p:sp>
        <p:nvSpPr>
          <p:cNvPr id="11" name="Text 9"/>
          <p:cNvSpPr/>
          <p:nvPr/>
        </p:nvSpPr>
        <p:spPr>
          <a:xfrm>
            <a:off x="274320" y="2414016"/>
            <a:ext cx="1463040" cy="256032"/>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User</a:t>
            </a:r>
            <a:endParaRPr lang="en-US" sz="1000" dirty="0"/>
          </a:p>
        </p:txBody>
      </p:sp>
      <p:sp>
        <p:nvSpPr>
          <p:cNvPr id="12" name="Shape 10"/>
          <p:cNvSpPr/>
          <p:nvPr/>
        </p:nvSpPr>
        <p:spPr>
          <a:xfrm>
            <a:off x="1755648" y="2414016"/>
            <a:ext cx="2798064" cy="256032"/>
          </a:xfrm>
          <a:prstGeom prst="rect">
            <a:avLst/>
          </a:prstGeom>
          <a:solidFill>
            <a:srgbClr val="FFFFFF"/>
          </a:solidFill>
          <a:ln w="3810">
            <a:solidFill>
              <a:srgbClr val="94A3B8"/>
            </a:solidFill>
            <a:prstDash val="solid"/>
          </a:ln>
        </p:spPr>
      </p:sp>
      <p:sp>
        <p:nvSpPr>
          <p:cNvPr id="13" name="Text 11"/>
          <p:cNvSpPr/>
          <p:nvPr/>
        </p:nvSpPr>
        <p:spPr>
          <a:xfrm>
            <a:off x="1847088" y="2414016"/>
            <a:ext cx="265176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userID, name, email, password, role</a:t>
            </a:r>
            <a:endParaRPr lang="en-US" sz="950" dirty="0"/>
          </a:p>
        </p:txBody>
      </p:sp>
      <p:sp>
        <p:nvSpPr>
          <p:cNvPr id="14" name="Shape 12"/>
          <p:cNvSpPr/>
          <p:nvPr/>
        </p:nvSpPr>
        <p:spPr>
          <a:xfrm>
            <a:off x="274320" y="2688336"/>
            <a:ext cx="1463040" cy="256032"/>
          </a:xfrm>
          <a:prstGeom prst="rect">
            <a:avLst/>
          </a:prstGeom>
          <a:solidFill>
            <a:srgbClr val="EEF2F7"/>
          </a:solidFill>
          <a:ln w="3810">
            <a:solidFill>
              <a:srgbClr val="94A3B8"/>
            </a:solidFill>
            <a:prstDash val="solid"/>
          </a:ln>
        </p:spPr>
      </p:sp>
      <p:sp>
        <p:nvSpPr>
          <p:cNvPr id="15" name="Text 13"/>
          <p:cNvSpPr/>
          <p:nvPr/>
        </p:nvSpPr>
        <p:spPr>
          <a:xfrm>
            <a:off x="274320" y="2688336"/>
            <a:ext cx="1463040" cy="256032"/>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Student</a:t>
            </a:r>
            <a:endParaRPr lang="en-US" sz="1000" dirty="0"/>
          </a:p>
        </p:txBody>
      </p:sp>
      <p:sp>
        <p:nvSpPr>
          <p:cNvPr id="16" name="Shape 14"/>
          <p:cNvSpPr/>
          <p:nvPr/>
        </p:nvSpPr>
        <p:spPr>
          <a:xfrm>
            <a:off x="1755648" y="2688336"/>
            <a:ext cx="2798064" cy="256032"/>
          </a:xfrm>
          <a:prstGeom prst="rect">
            <a:avLst/>
          </a:prstGeom>
          <a:solidFill>
            <a:srgbClr val="EEF2F7"/>
          </a:solidFill>
          <a:ln w="3810">
            <a:solidFill>
              <a:srgbClr val="94A3B8"/>
            </a:solidFill>
            <a:prstDash val="solid"/>
          </a:ln>
        </p:spPr>
      </p:sp>
      <p:sp>
        <p:nvSpPr>
          <p:cNvPr id="17" name="Text 15"/>
          <p:cNvSpPr/>
          <p:nvPr/>
        </p:nvSpPr>
        <p:spPr>
          <a:xfrm>
            <a:off x="1847088" y="2688336"/>
            <a:ext cx="265176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studentID, enrolledCourses, progressLevel</a:t>
            </a:r>
            <a:endParaRPr lang="en-US" sz="950" dirty="0"/>
          </a:p>
        </p:txBody>
      </p:sp>
      <p:sp>
        <p:nvSpPr>
          <p:cNvPr id="18" name="Shape 16"/>
          <p:cNvSpPr/>
          <p:nvPr/>
        </p:nvSpPr>
        <p:spPr>
          <a:xfrm>
            <a:off x="274320" y="2962656"/>
            <a:ext cx="1463040" cy="256032"/>
          </a:xfrm>
          <a:prstGeom prst="rect">
            <a:avLst/>
          </a:prstGeom>
          <a:solidFill>
            <a:srgbClr val="FFFFFF"/>
          </a:solidFill>
          <a:ln w="3810">
            <a:solidFill>
              <a:srgbClr val="94A3B8"/>
            </a:solidFill>
            <a:prstDash val="solid"/>
          </a:ln>
        </p:spPr>
      </p:sp>
      <p:sp>
        <p:nvSpPr>
          <p:cNvPr id="19" name="Text 17"/>
          <p:cNvSpPr/>
          <p:nvPr/>
        </p:nvSpPr>
        <p:spPr>
          <a:xfrm>
            <a:off x="274320" y="2962656"/>
            <a:ext cx="1463040" cy="256032"/>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Instructor</a:t>
            </a:r>
            <a:endParaRPr lang="en-US" sz="1000" dirty="0"/>
          </a:p>
        </p:txBody>
      </p:sp>
      <p:sp>
        <p:nvSpPr>
          <p:cNvPr id="20" name="Shape 18"/>
          <p:cNvSpPr/>
          <p:nvPr/>
        </p:nvSpPr>
        <p:spPr>
          <a:xfrm>
            <a:off x="1755648" y="2962656"/>
            <a:ext cx="2798064" cy="256032"/>
          </a:xfrm>
          <a:prstGeom prst="rect">
            <a:avLst/>
          </a:prstGeom>
          <a:solidFill>
            <a:srgbClr val="FFFFFF"/>
          </a:solidFill>
          <a:ln w="3810">
            <a:solidFill>
              <a:srgbClr val="94A3B8"/>
            </a:solidFill>
            <a:prstDash val="solid"/>
          </a:ln>
        </p:spPr>
      </p:sp>
      <p:sp>
        <p:nvSpPr>
          <p:cNvPr id="21" name="Text 19"/>
          <p:cNvSpPr/>
          <p:nvPr/>
        </p:nvSpPr>
        <p:spPr>
          <a:xfrm>
            <a:off x="1847088" y="2962656"/>
            <a:ext cx="265176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instructorID, coursesTaught, expertise</a:t>
            </a:r>
            <a:endParaRPr lang="en-US" sz="950" dirty="0"/>
          </a:p>
        </p:txBody>
      </p:sp>
      <p:sp>
        <p:nvSpPr>
          <p:cNvPr id="22" name="Shape 20"/>
          <p:cNvSpPr/>
          <p:nvPr/>
        </p:nvSpPr>
        <p:spPr>
          <a:xfrm>
            <a:off x="274320" y="3236976"/>
            <a:ext cx="1463040" cy="256032"/>
          </a:xfrm>
          <a:prstGeom prst="rect">
            <a:avLst/>
          </a:prstGeom>
          <a:solidFill>
            <a:srgbClr val="EEF2F7"/>
          </a:solidFill>
          <a:ln w="3810">
            <a:solidFill>
              <a:srgbClr val="94A3B8"/>
            </a:solidFill>
            <a:prstDash val="solid"/>
          </a:ln>
        </p:spPr>
      </p:sp>
      <p:sp>
        <p:nvSpPr>
          <p:cNvPr id="23" name="Text 21"/>
          <p:cNvSpPr/>
          <p:nvPr/>
        </p:nvSpPr>
        <p:spPr>
          <a:xfrm>
            <a:off x="274320" y="3236976"/>
            <a:ext cx="1463040" cy="256032"/>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Course</a:t>
            </a:r>
            <a:endParaRPr lang="en-US" sz="1000" dirty="0"/>
          </a:p>
        </p:txBody>
      </p:sp>
      <p:sp>
        <p:nvSpPr>
          <p:cNvPr id="24" name="Shape 22"/>
          <p:cNvSpPr/>
          <p:nvPr/>
        </p:nvSpPr>
        <p:spPr>
          <a:xfrm>
            <a:off x="1755648" y="3236976"/>
            <a:ext cx="2798064" cy="256032"/>
          </a:xfrm>
          <a:prstGeom prst="rect">
            <a:avLst/>
          </a:prstGeom>
          <a:solidFill>
            <a:srgbClr val="EEF2F7"/>
          </a:solidFill>
          <a:ln w="3810">
            <a:solidFill>
              <a:srgbClr val="94A3B8"/>
            </a:solidFill>
            <a:prstDash val="solid"/>
          </a:ln>
        </p:spPr>
      </p:sp>
      <p:sp>
        <p:nvSpPr>
          <p:cNvPr id="25" name="Text 23"/>
          <p:cNvSpPr/>
          <p:nvPr/>
        </p:nvSpPr>
        <p:spPr>
          <a:xfrm>
            <a:off x="1847088" y="3236976"/>
            <a:ext cx="265176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courseID, title, description, difficulty</a:t>
            </a:r>
            <a:endParaRPr lang="en-US" sz="950" dirty="0"/>
          </a:p>
        </p:txBody>
      </p:sp>
      <p:sp>
        <p:nvSpPr>
          <p:cNvPr id="26" name="Shape 24"/>
          <p:cNvSpPr/>
          <p:nvPr/>
        </p:nvSpPr>
        <p:spPr>
          <a:xfrm>
            <a:off x="274320" y="3511296"/>
            <a:ext cx="1463040" cy="256032"/>
          </a:xfrm>
          <a:prstGeom prst="rect">
            <a:avLst/>
          </a:prstGeom>
          <a:solidFill>
            <a:srgbClr val="FFFFFF"/>
          </a:solidFill>
          <a:ln w="3810">
            <a:solidFill>
              <a:srgbClr val="94A3B8"/>
            </a:solidFill>
            <a:prstDash val="solid"/>
          </a:ln>
        </p:spPr>
      </p:sp>
      <p:sp>
        <p:nvSpPr>
          <p:cNvPr id="27" name="Text 25"/>
          <p:cNvSpPr/>
          <p:nvPr/>
        </p:nvSpPr>
        <p:spPr>
          <a:xfrm>
            <a:off x="274320" y="3511296"/>
            <a:ext cx="1463040" cy="256032"/>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Content</a:t>
            </a:r>
            <a:endParaRPr lang="en-US" sz="1000" dirty="0"/>
          </a:p>
        </p:txBody>
      </p:sp>
      <p:sp>
        <p:nvSpPr>
          <p:cNvPr id="28" name="Shape 26"/>
          <p:cNvSpPr/>
          <p:nvPr/>
        </p:nvSpPr>
        <p:spPr>
          <a:xfrm>
            <a:off x="1755648" y="3511296"/>
            <a:ext cx="2798064" cy="256032"/>
          </a:xfrm>
          <a:prstGeom prst="rect">
            <a:avLst/>
          </a:prstGeom>
          <a:solidFill>
            <a:srgbClr val="FFFFFF"/>
          </a:solidFill>
          <a:ln w="3810">
            <a:solidFill>
              <a:srgbClr val="94A3B8"/>
            </a:solidFill>
            <a:prstDash val="solid"/>
          </a:ln>
        </p:spPr>
      </p:sp>
      <p:sp>
        <p:nvSpPr>
          <p:cNvPr id="29" name="Text 27"/>
          <p:cNvSpPr/>
          <p:nvPr/>
        </p:nvSpPr>
        <p:spPr>
          <a:xfrm>
            <a:off x="1847088" y="3511296"/>
            <a:ext cx="2651760" cy="256032"/>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contentID, type, format, size, quality</a:t>
            </a:r>
            <a:endParaRPr lang="en-US" sz="950" dirty="0"/>
          </a:p>
        </p:txBody>
      </p:sp>
      <p:sp>
        <p:nvSpPr>
          <p:cNvPr id="30" name="Shape 28"/>
          <p:cNvSpPr/>
          <p:nvPr/>
        </p:nvSpPr>
        <p:spPr>
          <a:xfrm>
            <a:off x="4845068" y="2395728"/>
            <a:ext cx="1386541" cy="274320"/>
          </a:xfrm>
          <a:prstGeom prst="rect">
            <a:avLst/>
          </a:prstGeom>
          <a:solidFill>
            <a:srgbClr val="FFFFFF"/>
          </a:solidFill>
          <a:ln w="3810">
            <a:solidFill>
              <a:srgbClr val="94A3B8"/>
            </a:solidFill>
            <a:prstDash val="solid"/>
          </a:ln>
        </p:spPr>
      </p:sp>
      <p:sp>
        <p:nvSpPr>
          <p:cNvPr id="31" name="Text 29"/>
          <p:cNvSpPr/>
          <p:nvPr/>
        </p:nvSpPr>
        <p:spPr>
          <a:xfrm>
            <a:off x="4845068" y="2395728"/>
            <a:ext cx="1386541" cy="274320"/>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QoEMonitor</a:t>
            </a:r>
            <a:endParaRPr lang="en-US" sz="1000" dirty="0"/>
          </a:p>
        </p:txBody>
      </p:sp>
      <p:sp>
        <p:nvSpPr>
          <p:cNvPr id="32" name="Shape 30"/>
          <p:cNvSpPr/>
          <p:nvPr/>
        </p:nvSpPr>
        <p:spPr>
          <a:xfrm>
            <a:off x="6326396" y="2395728"/>
            <a:ext cx="2651760" cy="274320"/>
          </a:xfrm>
          <a:prstGeom prst="rect">
            <a:avLst/>
          </a:prstGeom>
          <a:solidFill>
            <a:srgbClr val="FFFFFF"/>
          </a:solidFill>
          <a:ln w="3810">
            <a:solidFill>
              <a:srgbClr val="94A3B8"/>
            </a:solidFill>
            <a:prstDash val="solid"/>
          </a:ln>
        </p:spPr>
      </p:sp>
      <p:sp>
        <p:nvSpPr>
          <p:cNvPr id="33" name="Text 31"/>
          <p:cNvSpPr/>
          <p:nvPr/>
        </p:nvSpPr>
        <p:spPr>
          <a:xfrm>
            <a:off x="6417836" y="2395728"/>
            <a:ext cx="2513106"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monitorID, bandwidth, latency, deviceType</a:t>
            </a:r>
            <a:endParaRPr lang="en-US" sz="950" dirty="0"/>
          </a:p>
        </p:txBody>
      </p:sp>
      <p:sp>
        <p:nvSpPr>
          <p:cNvPr id="34" name="Shape 32"/>
          <p:cNvSpPr/>
          <p:nvPr/>
        </p:nvSpPr>
        <p:spPr>
          <a:xfrm>
            <a:off x="4845068" y="2670048"/>
            <a:ext cx="1386541" cy="274320"/>
          </a:xfrm>
          <a:prstGeom prst="rect">
            <a:avLst/>
          </a:prstGeom>
          <a:solidFill>
            <a:srgbClr val="EEF2F7"/>
          </a:solidFill>
          <a:ln w="3810">
            <a:solidFill>
              <a:srgbClr val="94A3B8"/>
            </a:solidFill>
            <a:prstDash val="solid"/>
          </a:ln>
        </p:spPr>
      </p:sp>
      <p:sp>
        <p:nvSpPr>
          <p:cNvPr id="35" name="Text 33"/>
          <p:cNvSpPr/>
          <p:nvPr/>
        </p:nvSpPr>
        <p:spPr>
          <a:xfrm>
            <a:off x="4845068" y="2670048"/>
            <a:ext cx="1386541" cy="274320"/>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AdaptiveEngine</a:t>
            </a:r>
            <a:endParaRPr lang="en-US" sz="1000" dirty="0"/>
          </a:p>
        </p:txBody>
      </p:sp>
      <p:sp>
        <p:nvSpPr>
          <p:cNvPr id="36" name="Shape 34"/>
          <p:cNvSpPr/>
          <p:nvPr/>
        </p:nvSpPr>
        <p:spPr>
          <a:xfrm>
            <a:off x="6326396" y="2670048"/>
            <a:ext cx="2651760" cy="274320"/>
          </a:xfrm>
          <a:prstGeom prst="rect">
            <a:avLst/>
          </a:prstGeom>
          <a:solidFill>
            <a:srgbClr val="EEF2F7"/>
          </a:solidFill>
          <a:ln w="3810">
            <a:solidFill>
              <a:srgbClr val="94A3B8"/>
            </a:solidFill>
            <a:prstDash val="solid"/>
          </a:ln>
        </p:spPr>
      </p:sp>
      <p:sp>
        <p:nvSpPr>
          <p:cNvPr id="37" name="Text 35"/>
          <p:cNvSpPr/>
          <p:nvPr/>
        </p:nvSpPr>
        <p:spPr>
          <a:xfrm>
            <a:off x="6417836" y="2670048"/>
            <a:ext cx="2513106"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engineID, threshold, contentFormat</a:t>
            </a:r>
            <a:endParaRPr lang="en-US" sz="950" dirty="0"/>
          </a:p>
        </p:txBody>
      </p:sp>
      <p:sp>
        <p:nvSpPr>
          <p:cNvPr id="38" name="Shape 36"/>
          <p:cNvSpPr/>
          <p:nvPr/>
        </p:nvSpPr>
        <p:spPr>
          <a:xfrm>
            <a:off x="4845068" y="2944368"/>
            <a:ext cx="1386541" cy="274320"/>
          </a:xfrm>
          <a:prstGeom prst="rect">
            <a:avLst/>
          </a:prstGeom>
          <a:solidFill>
            <a:srgbClr val="FFFFFF"/>
          </a:solidFill>
          <a:ln w="3810">
            <a:solidFill>
              <a:srgbClr val="94A3B8"/>
            </a:solidFill>
            <a:prstDash val="solid"/>
          </a:ln>
        </p:spPr>
      </p:sp>
      <p:sp>
        <p:nvSpPr>
          <p:cNvPr id="39" name="Text 37"/>
          <p:cNvSpPr/>
          <p:nvPr/>
        </p:nvSpPr>
        <p:spPr>
          <a:xfrm>
            <a:off x="4845068" y="2944368"/>
            <a:ext cx="1386541" cy="274320"/>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Assessment</a:t>
            </a:r>
            <a:endParaRPr lang="en-US" sz="1000" dirty="0"/>
          </a:p>
        </p:txBody>
      </p:sp>
      <p:sp>
        <p:nvSpPr>
          <p:cNvPr id="40" name="Shape 38"/>
          <p:cNvSpPr/>
          <p:nvPr/>
        </p:nvSpPr>
        <p:spPr>
          <a:xfrm>
            <a:off x="6326396" y="2944368"/>
            <a:ext cx="2651760" cy="274320"/>
          </a:xfrm>
          <a:prstGeom prst="rect">
            <a:avLst/>
          </a:prstGeom>
          <a:solidFill>
            <a:srgbClr val="FFFFFF"/>
          </a:solidFill>
          <a:ln w="3810">
            <a:solidFill>
              <a:srgbClr val="94A3B8"/>
            </a:solidFill>
            <a:prstDash val="solid"/>
          </a:ln>
        </p:spPr>
      </p:sp>
      <p:sp>
        <p:nvSpPr>
          <p:cNvPr id="41" name="Text 39"/>
          <p:cNvSpPr/>
          <p:nvPr/>
        </p:nvSpPr>
        <p:spPr>
          <a:xfrm>
            <a:off x="6417836" y="2944368"/>
            <a:ext cx="2513106"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assessmentID, questions, score, attempts</a:t>
            </a:r>
            <a:endParaRPr lang="en-US" sz="950" dirty="0"/>
          </a:p>
        </p:txBody>
      </p:sp>
      <p:sp>
        <p:nvSpPr>
          <p:cNvPr id="42" name="Shape 40"/>
          <p:cNvSpPr/>
          <p:nvPr/>
        </p:nvSpPr>
        <p:spPr>
          <a:xfrm>
            <a:off x="4845068" y="3218688"/>
            <a:ext cx="1386541" cy="274320"/>
          </a:xfrm>
          <a:prstGeom prst="rect">
            <a:avLst/>
          </a:prstGeom>
          <a:solidFill>
            <a:srgbClr val="EEF2F7"/>
          </a:solidFill>
          <a:ln w="3810">
            <a:solidFill>
              <a:srgbClr val="94A3B8"/>
            </a:solidFill>
            <a:prstDash val="solid"/>
          </a:ln>
        </p:spPr>
      </p:sp>
      <p:sp>
        <p:nvSpPr>
          <p:cNvPr id="43" name="Text 41"/>
          <p:cNvSpPr/>
          <p:nvPr/>
        </p:nvSpPr>
        <p:spPr>
          <a:xfrm>
            <a:off x="4845068" y="3218688"/>
            <a:ext cx="1386541" cy="274320"/>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Enrollment</a:t>
            </a:r>
            <a:endParaRPr lang="en-US" sz="1000" dirty="0"/>
          </a:p>
        </p:txBody>
      </p:sp>
      <p:sp>
        <p:nvSpPr>
          <p:cNvPr id="44" name="Shape 42"/>
          <p:cNvSpPr/>
          <p:nvPr/>
        </p:nvSpPr>
        <p:spPr>
          <a:xfrm>
            <a:off x="6326396" y="3218688"/>
            <a:ext cx="2651760" cy="274320"/>
          </a:xfrm>
          <a:prstGeom prst="rect">
            <a:avLst/>
          </a:prstGeom>
          <a:solidFill>
            <a:srgbClr val="EEF2F7"/>
          </a:solidFill>
          <a:ln w="3810">
            <a:solidFill>
              <a:srgbClr val="94A3B8"/>
            </a:solidFill>
            <a:prstDash val="solid"/>
          </a:ln>
        </p:spPr>
      </p:sp>
      <p:sp>
        <p:nvSpPr>
          <p:cNvPr id="45" name="Text 43"/>
          <p:cNvSpPr/>
          <p:nvPr/>
        </p:nvSpPr>
        <p:spPr>
          <a:xfrm>
            <a:off x="6417836" y="3218688"/>
            <a:ext cx="2513106"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enrollmentID, date, status</a:t>
            </a:r>
            <a:endParaRPr lang="en-US" sz="950" dirty="0"/>
          </a:p>
        </p:txBody>
      </p:sp>
      <p:sp>
        <p:nvSpPr>
          <p:cNvPr id="46" name="Shape 44"/>
          <p:cNvSpPr/>
          <p:nvPr/>
        </p:nvSpPr>
        <p:spPr>
          <a:xfrm>
            <a:off x="4845068" y="3493008"/>
            <a:ext cx="1386541" cy="274320"/>
          </a:xfrm>
          <a:prstGeom prst="rect">
            <a:avLst/>
          </a:prstGeom>
          <a:solidFill>
            <a:srgbClr val="FFFFFF"/>
          </a:solidFill>
          <a:ln w="3810">
            <a:solidFill>
              <a:srgbClr val="94A3B8"/>
            </a:solidFill>
            <a:prstDash val="solid"/>
          </a:ln>
        </p:spPr>
      </p:sp>
      <p:sp>
        <p:nvSpPr>
          <p:cNvPr id="47" name="Text 45"/>
          <p:cNvSpPr/>
          <p:nvPr/>
        </p:nvSpPr>
        <p:spPr>
          <a:xfrm>
            <a:off x="4845068" y="3493008"/>
            <a:ext cx="1386541" cy="274320"/>
          </a:xfrm>
          <a:prstGeom prst="rect">
            <a:avLst/>
          </a:prstGeom>
          <a:noFill/>
          <a:ln/>
        </p:spPr>
        <p:txBody>
          <a:bodyPr wrap="square" rtlCol="0" anchor="ctr"/>
          <a:lstStyle/>
          <a:p>
            <a:pPr marL="0" indent="0" algn="ctr">
              <a:buNone/>
            </a:pPr>
            <a:r>
              <a:rPr lang="en-US" sz="1000" b="1" dirty="0">
                <a:solidFill>
                  <a:srgbClr val="132240"/>
                </a:solidFill>
                <a:latin typeface="Calibri" pitchFamily="34" charset="0"/>
                <a:ea typeface="Calibri" pitchFamily="34" charset="-122"/>
                <a:cs typeface="Calibri" pitchFamily="34" charset="-120"/>
              </a:rPr>
              <a:t>ProgressTracker</a:t>
            </a:r>
            <a:endParaRPr lang="en-US" sz="1000" dirty="0"/>
          </a:p>
        </p:txBody>
      </p:sp>
      <p:sp>
        <p:nvSpPr>
          <p:cNvPr id="48" name="Shape 46"/>
          <p:cNvSpPr/>
          <p:nvPr/>
        </p:nvSpPr>
        <p:spPr>
          <a:xfrm>
            <a:off x="6326396" y="3493008"/>
            <a:ext cx="2651760" cy="274320"/>
          </a:xfrm>
          <a:prstGeom prst="rect">
            <a:avLst/>
          </a:prstGeom>
          <a:solidFill>
            <a:srgbClr val="FFFFFF"/>
          </a:solidFill>
          <a:ln w="3810">
            <a:solidFill>
              <a:srgbClr val="94A3B8"/>
            </a:solidFill>
            <a:prstDash val="solid"/>
          </a:ln>
        </p:spPr>
      </p:sp>
      <p:sp>
        <p:nvSpPr>
          <p:cNvPr id="49" name="Text 47"/>
          <p:cNvSpPr/>
          <p:nvPr/>
        </p:nvSpPr>
        <p:spPr>
          <a:xfrm>
            <a:off x="6417836" y="3493008"/>
            <a:ext cx="2513106"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trackID, completionRate, lastAccessed</a:t>
            </a:r>
            <a:endParaRPr lang="en-US" sz="950" dirty="0"/>
          </a:p>
        </p:txBody>
      </p:sp>
      <p:sp>
        <p:nvSpPr>
          <p:cNvPr id="50" name="Text 48"/>
          <p:cNvSpPr/>
          <p:nvPr/>
        </p:nvSpPr>
        <p:spPr>
          <a:xfrm>
            <a:off x="274320" y="4663440"/>
            <a:ext cx="8595360" cy="329184"/>
          </a:xfrm>
          <a:prstGeom prst="rect">
            <a:avLst/>
          </a:prstGeom>
          <a:noFill/>
          <a:ln/>
        </p:spPr>
        <p:txBody>
          <a:bodyPr wrap="square"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Key relationships: Student and Instructor inherit User  ·  Student — Enrollment — Course  ·  Course contains many Content  ·  QoEMonitor feeds AdaptiveEngine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6DFA3269-1AC3-9436-CA53-23D2B8C506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AAE9432-367A-D1F9-E55B-F9FE9A95826E}"/>
              </a:ext>
            </a:extLst>
          </p:cNvPr>
          <p:cNvSpPr txBox="1"/>
          <p:nvPr/>
        </p:nvSpPr>
        <p:spPr>
          <a:xfrm>
            <a:off x="3395283" y="89705"/>
            <a:ext cx="2502812" cy="369332"/>
          </a:xfrm>
          <a:prstGeom prst="rect">
            <a:avLst/>
          </a:prstGeom>
          <a:noFill/>
        </p:spPr>
        <p:txBody>
          <a:bodyPr wrap="square" rtlCol="0">
            <a:spAutoFit/>
          </a:bodyPr>
          <a:lstStyle/>
          <a:p>
            <a:r>
              <a:rPr lang="en-US" dirty="0">
                <a:solidFill>
                  <a:srgbClr val="132240"/>
                </a:solidFill>
              </a:rPr>
              <a:t>System Class Diagram</a:t>
            </a:r>
          </a:p>
        </p:txBody>
      </p:sp>
      <p:pic>
        <p:nvPicPr>
          <p:cNvPr id="4" name="Picture 3">
            <a:extLst>
              <a:ext uri="{FF2B5EF4-FFF2-40B4-BE49-F238E27FC236}">
                <a16:creationId xmlns:a16="http://schemas.microsoft.com/office/drawing/2014/main" id="{5965BE0B-28D4-BE10-B883-BEB709B687E5}"/>
              </a:ext>
            </a:extLst>
          </p:cNvPr>
          <p:cNvPicPr>
            <a:picLocks noChangeAspect="1"/>
          </p:cNvPicPr>
          <p:nvPr/>
        </p:nvPicPr>
        <p:blipFill>
          <a:blip r:embed="rId2"/>
          <a:stretch>
            <a:fillRect/>
          </a:stretch>
        </p:blipFill>
        <p:spPr>
          <a:xfrm>
            <a:off x="918117" y="459037"/>
            <a:ext cx="7307766" cy="4684463"/>
          </a:xfrm>
          <a:prstGeom prst="rect">
            <a:avLst/>
          </a:prstGeom>
        </p:spPr>
      </p:pic>
    </p:spTree>
    <p:extLst>
      <p:ext uri="{BB962C8B-B14F-4D97-AF65-F5344CB8AC3E}">
        <p14:creationId xmlns:p14="http://schemas.microsoft.com/office/powerpoint/2010/main" val="2251599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06  Deployment Diagram</a:t>
            </a:r>
            <a:endParaRPr lang="en-US" sz="2000" dirty="0"/>
          </a:p>
        </p:txBody>
      </p:sp>
      <p:sp>
        <p:nvSpPr>
          <p:cNvPr id="5" name="Text 3"/>
          <p:cNvSpPr/>
          <p:nvPr/>
        </p:nvSpPr>
        <p:spPr>
          <a:xfrm>
            <a:off x="274320" y="997662"/>
            <a:ext cx="7739690" cy="822960"/>
          </a:xfrm>
          <a:prstGeom prst="rect">
            <a:avLst/>
          </a:prstGeom>
          <a:noFill/>
          <a:ln/>
        </p:spPr>
        <p:txBody>
          <a:bodyPr wrap="square" rtlCol="0" anchor="ctr"/>
          <a:lstStyle/>
          <a:p>
            <a:pPr marL="0" indent="0">
              <a:lnSpc>
                <a:spcPct val="150000"/>
              </a:lnSpc>
              <a:buNone/>
            </a:pPr>
            <a:r>
              <a:rPr lang="en-US" sz="1400" dirty="0">
                <a:solidFill>
                  <a:srgbClr val="475569"/>
                </a:solidFill>
                <a:latin typeface="Calibri" pitchFamily="34" charset="0"/>
                <a:ea typeface="Calibri" pitchFamily="34" charset="-122"/>
                <a:cs typeface="Calibri" pitchFamily="34" charset="-120"/>
              </a:rPr>
              <a:t>It shows where each software artifact is deployed, on what physical or virtual node, and how those nodes communicate. It captures the hardware, cloud services, mobile devices, and the protocols linking them.</a:t>
            </a:r>
            <a:endParaRPr lang="en-US" sz="1400" dirty="0"/>
          </a:p>
        </p:txBody>
      </p:sp>
      <p:sp>
        <p:nvSpPr>
          <p:cNvPr id="6" name="Shape 4"/>
          <p:cNvSpPr/>
          <p:nvPr/>
        </p:nvSpPr>
        <p:spPr>
          <a:xfrm>
            <a:off x="274320" y="2148840"/>
            <a:ext cx="1828800" cy="457200"/>
          </a:xfrm>
          <a:prstGeom prst="rect">
            <a:avLst/>
          </a:prstGeom>
          <a:solidFill>
            <a:srgbClr val="0D9488"/>
          </a:solidFill>
          <a:ln w="12700">
            <a:solidFill>
              <a:srgbClr val="0D9488"/>
            </a:solidFill>
            <a:prstDash val="solid"/>
          </a:ln>
        </p:spPr>
      </p:sp>
      <p:sp>
        <p:nvSpPr>
          <p:cNvPr id="7" name="Text 5"/>
          <p:cNvSpPr/>
          <p:nvPr/>
        </p:nvSpPr>
        <p:spPr>
          <a:xfrm>
            <a:off x="274320" y="2148840"/>
            <a:ext cx="182880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Student device</a:t>
            </a:r>
            <a:endParaRPr lang="en-US" sz="1050" dirty="0"/>
          </a:p>
        </p:txBody>
      </p:sp>
      <p:sp>
        <p:nvSpPr>
          <p:cNvPr id="8" name="Text 6"/>
          <p:cNvSpPr/>
          <p:nvPr/>
        </p:nvSpPr>
        <p:spPr>
          <a:xfrm>
            <a:off x="2194560" y="2194560"/>
            <a:ext cx="6675120" cy="402336"/>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Mobile App (APK/IPA)  ·  QoE Monitor  ·  Offline cache (SQLite)</a:t>
            </a:r>
            <a:endParaRPr lang="en-US" sz="1050" dirty="0"/>
          </a:p>
        </p:txBody>
      </p:sp>
      <p:sp>
        <p:nvSpPr>
          <p:cNvPr id="9" name="Shape 7"/>
          <p:cNvSpPr/>
          <p:nvPr/>
        </p:nvSpPr>
        <p:spPr>
          <a:xfrm>
            <a:off x="274320" y="2624328"/>
            <a:ext cx="8595360" cy="0"/>
          </a:xfrm>
          <a:prstGeom prst="line">
            <a:avLst/>
          </a:prstGeom>
          <a:noFill/>
          <a:ln w="3810">
            <a:solidFill>
              <a:srgbClr val="94A3B8"/>
            </a:solidFill>
            <a:prstDash val="solid"/>
          </a:ln>
        </p:spPr>
      </p:sp>
      <p:sp>
        <p:nvSpPr>
          <p:cNvPr id="10" name="Shape 8"/>
          <p:cNvSpPr/>
          <p:nvPr/>
        </p:nvSpPr>
        <p:spPr>
          <a:xfrm>
            <a:off x="274320" y="2670048"/>
            <a:ext cx="1828800" cy="457200"/>
          </a:xfrm>
          <a:prstGeom prst="rect">
            <a:avLst/>
          </a:prstGeom>
          <a:solidFill>
            <a:srgbClr val="0D9488"/>
          </a:solidFill>
          <a:ln w="12700">
            <a:solidFill>
              <a:srgbClr val="0D9488"/>
            </a:solidFill>
            <a:prstDash val="solid"/>
          </a:ln>
        </p:spPr>
      </p:sp>
      <p:sp>
        <p:nvSpPr>
          <p:cNvPr id="11" name="Text 9"/>
          <p:cNvSpPr/>
          <p:nvPr/>
        </p:nvSpPr>
        <p:spPr>
          <a:xfrm>
            <a:off x="274320" y="2670048"/>
            <a:ext cx="182880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Instructor device</a:t>
            </a:r>
            <a:endParaRPr lang="en-US" sz="1050" dirty="0"/>
          </a:p>
        </p:txBody>
      </p:sp>
      <p:sp>
        <p:nvSpPr>
          <p:cNvPr id="12" name="Text 10"/>
          <p:cNvSpPr/>
          <p:nvPr/>
        </p:nvSpPr>
        <p:spPr>
          <a:xfrm>
            <a:off x="2194560" y="2715768"/>
            <a:ext cx="6675120" cy="402336"/>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Mobile App (APK/IPA)  ·  Content upload module</a:t>
            </a:r>
            <a:endParaRPr lang="en-US" sz="1050" dirty="0"/>
          </a:p>
        </p:txBody>
      </p:sp>
      <p:sp>
        <p:nvSpPr>
          <p:cNvPr id="13" name="Shape 11"/>
          <p:cNvSpPr/>
          <p:nvPr/>
        </p:nvSpPr>
        <p:spPr>
          <a:xfrm>
            <a:off x="274320" y="3145536"/>
            <a:ext cx="8595360" cy="0"/>
          </a:xfrm>
          <a:prstGeom prst="line">
            <a:avLst/>
          </a:prstGeom>
          <a:noFill/>
          <a:ln w="3810">
            <a:solidFill>
              <a:srgbClr val="94A3B8"/>
            </a:solidFill>
            <a:prstDash val="solid"/>
          </a:ln>
        </p:spPr>
      </p:sp>
      <p:sp>
        <p:nvSpPr>
          <p:cNvPr id="14" name="Shape 12"/>
          <p:cNvSpPr/>
          <p:nvPr/>
        </p:nvSpPr>
        <p:spPr>
          <a:xfrm>
            <a:off x="274320" y="3191256"/>
            <a:ext cx="1828800" cy="457200"/>
          </a:xfrm>
          <a:prstGeom prst="rect">
            <a:avLst/>
          </a:prstGeom>
          <a:solidFill>
            <a:srgbClr val="1E3A5F"/>
          </a:solidFill>
          <a:ln w="12700">
            <a:solidFill>
              <a:srgbClr val="1E3A5F"/>
            </a:solidFill>
            <a:prstDash val="solid"/>
          </a:ln>
        </p:spPr>
      </p:sp>
      <p:sp>
        <p:nvSpPr>
          <p:cNvPr id="15" name="Text 13"/>
          <p:cNvSpPr/>
          <p:nvPr/>
        </p:nvSpPr>
        <p:spPr>
          <a:xfrm>
            <a:off x="274320" y="3191256"/>
            <a:ext cx="182880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Cloud app server</a:t>
            </a:r>
            <a:endParaRPr lang="en-US" sz="1050" dirty="0"/>
          </a:p>
        </p:txBody>
      </p:sp>
      <p:sp>
        <p:nvSpPr>
          <p:cNvPr id="16" name="Text 14"/>
          <p:cNvSpPr/>
          <p:nvPr/>
        </p:nvSpPr>
        <p:spPr>
          <a:xfrm>
            <a:off x="2194560" y="3236976"/>
            <a:ext cx="6675120" cy="402336"/>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REST API  ·  Adaptive Engine  ·  Auth Service  ·  QoE Service  ·  Progress Tracker</a:t>
            </a:r>
            <a:endParaRPr lang="en-US" sz="1050" dirty="0"/>
          </a:p>
        </p:txBody>
      </p:sp>
      <p:sp>
        <p:nvSpPr>
          <p:cNvPr id="17" name="Shape 15"/>
          <p:cNvSpPr/>
          <p:nvPr/>
        </p:nvSpPr>
        <p:spPr>
          <a:xfrm>
            <a:off x="274320" y="3666744"/>
            <a:ext cx="8595360" cy="0"/>
          </a:xfrm>
          <a:prstGeom prst="line">
            <a:avLst/>
          </a:prstGeom>
          <a:noFill/>
          <a:ln w="3810">
            <a:solidFill>
              <a:srgbClr val="94A3B8"/>
            </a:solidFill>
            <a:prstDash val="solid"/>
          </a:ln>
        </p:spPr>
      </p:sp>
      <p:sp>
        <p:nvSpPr>
          <p:cNvPr id="18" name="Shape 16"/>
          <p:cNvSpPr/>
          <p:nvPr/>
        </p:nvSpPr>
        <p:spPr>
          <a:xfrm>
            <a:off x="274320" y="3712464"/>
            <a:ext cx="1828800" cy="457200"/>
          </a:xfrm>
          <a:prstGeom prst="rect">
            <a:avLst/>
          </a:prstGeom>
          <a:solidFill>
            <a:srgbClr val="F97316"/>
          </a:solidFill>
          <a:ln w="12700">
            <a:solidFill>
              <a:srgbClr val="F97316"/>
            </a:solidFill>
            <a:prstDash val="solid"/>
          </a:ln>
        </p:spPr>
      </p:sp>
      <p:sp>
        <p:nvSpPr>
          <p:cNvPr id="19" name="Text 17"/>
          <p:cNvSpPr/>
          <p:nvPr/>
        </p:nvSpPr>
        <p:spPr>
          <a:xfrm>
            <a:off x="274320" y="3712464"/>
            <a:ext cx="182880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Database server</a:t>
            </a:r>
            <a:endParaRPr lang="en-US" sz="1050" dirty="0"/>
          </a:p>
        </p:txBody>
      </p:sp>
      <p:sp>
        <p:nvSpPr>
          <p:cNvPr id="20" name="Text 18"/>
          <p:cNvSpPr/>
          <p:nvPr/>
        </p:nvSpPr>
        <p:spPr>
          <a:xfrm>
            <a:off x="2194560" y="3758184"/>
            <a:ext cx="6675120" cy="402336"/>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App Database (PostgreSQL)  ·  QoE Logs DB</a:t>
            </a:r>
            <a:endParaRPr lang="en-US" sz="1050" dirty="0"/>
          </a:p>
        </p:txBody>
      </p:sp>
      <p:sp>
        <p:nvSpPr>
          <p:cNvPr id="21" name="Shape 19"/>
          <p:cNvSpPr/>
          <p:nvPr/>
        </p:nvSpPr>
        <p:spPr>
          <a:xfrm>
            <a:off x="274320" y="4187952"/>
            <a:ext cx="8595360" cy="0"/>
          </a:xfrm>
          <a:prstGeom prst="line">
            <a:avLst/>
          </a:prstGeom>
          <a:noFill/>
          <a:ln w="3810">
            <a:solidFill>
              <a:srgbClr val="94A3B8"/>
            </a:solidFill>
            <a:prstDash val="solid"/>
          </a:ln>
        </p:spPr>
      </p:sp>
      <p:sp>
        <p:nvSpPr>
          <p:cNvPr id="22" name="Shape 20"/>
          <p:cNvSpPr/>
          <p:nvPr/>
        </p:nvSpPr>
        <p:spPr>
          <a:xfrm>
            <a:off x="274320" y="4233672"/>
            <a:ext cx="1828800" cy="457200"/>
          </a:xfrm>
          <a:prstGeom prst="rect">
            <a:avLst/>
          </a:prstGeom>
          <a:solidFill>
            <a:srgbClr val="F59E0B"/>
          </a:solidFill>
          <a:ln w="12700">
            <a:solidFill>
              <a:srgbClr val="F59E0B"/>
            </a:solidFill>
            <a:prstDash val="solid"/>
          </a:ln>
        </p:spPr>
      </p:sp>
      <p:sp>
        <p:nvSpPr>
          <p:cNvPr id="23" name="Text 21"/>
          <p:cNvSpPr/>
          <p:nvPr/>
        </p:nvSpPr>
        <p:spPr>
          <a:xfrm>
            <a:off x="274320" y="4233672"/>
            <a:ext cx="182880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CDN / Cloud storage</a:t>
            </a:r>
            <a:endParaRPr lang="en-US" sz="1050" dirty="0"/>
          </a:p>
        </p:txBody>
      </p:sp>
      <p:sp>
        <p:nvSpPr>
          <p:cNvPr id="24" name="Text 22"/>
          <p:cNvSpPr/>
          <p:nvPr/>
        </p:nvSpPr>
        <p:spPr>
          <a:xfrm>
            <a:off x="2194560" y="4279392"/>
            <a:ext cx="6675120" cy="402336"/>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Video / Audio files  ·  PDFs &amp; Notes</a:t>
            </a:r>
            <a:endParaRPr lang="en-US" sz="1050" dirty="0"/>
          </a:p>
        </p:txBody>
      </p:sp>
      <p:sp>
        <p:nvSpPr>
          <p:cNvPr id="25" name="Text 23"/>
          <p:cNvSpPr/>
          <p:nvPr/>
        </p:nvSpPr>
        <p:spPr>
          <a:xfrm>
            <a:off x="274320" y="4736592"/>
            <a:ext cx="8595360" cy="27432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Protocols: HTTPS (all tiers)  ·  WebSocket / WSS (QoE telemetry)  ·  SQL/TCP (API to database)  ·  CDN pull (direct content to mobile)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06  Deployment Diagram — Architecture view</a:t>
            </a:r>
            <a:endParaRPr lang="en-US" sz="2000" dirty="0"/>
          </a:p>
        </p:txBody>
      </p:sp>
      <p:sp>
        <p:nvSpPr>
          <p:cNvPr id="4" name="Text 2"/>
          <p:cNvSpPr/>
          <p:nvPr/>
        </p:nvSpPr>
        <p:spPr>
          <a:xfrm rot="16200000">
            <a:off x="9144" y="914400"/>
            <a:ext cx="502920" cy="960120"/>
          </a:xfrm>
          <a:prstGeom prst="rect">
            <a:avLst/>
          </a:prstGeom>
          <a:noFill/>
          <a:ln/>
        </p:spPr>
        <p:txBody>
          <a:bodyPr wrap="square" rtlCol="0" anchor="ctr"/>
          <a:lstStyle/>
          <a:p>
            <a:pPr marL="0" indent="0" algn="ctr">
              <a:buNone/>
            </a:pPr>
            <a:r>
              <a:rPr lang="en-US" sz="800" b="1" dirty="0">
                <a:solidFill>
                  <a:srgbClr val="0D9488"/>
                </a:solidFill>
                <a:latin typeface="Calibri" pitchFamily="34" charset="0"/>
                <a:ea typeface="Calibri" pitchFamily="34" charset="-122"/>
                <a:cs typeface="Calibri" pitchFamily="34" charset="-120"/>
              </a:rPr>
              <a:t>CLIENT</a:t>
            </a:r>
            <a:endParaRPr lang="en-US" sz="800" dirty="0"/>
          </a:p>
        </p:txBody>
      </p:sp>
      <p:sp>
        <p:nvSpPr>
          <p:cNvPr id="5" name="Text 3"/>
          <p:cNvSpPr/>
          <p:nvPr/>
        </p:nvSpPr>
        <p:spPr>
          <a:xfrm rot="16200000">
            <a:off x="-45720" y="2368296"/>
            <a:ext cx="612648" cy="822960"/>
          </a:xfrm>
          <a:prstGeom prst="rect">
            <a:avLst/>
          </a:prstGeom>
          <a:noFill/>
          <a:ln/>
        </p:spPr>
        <p:txBody>
          <a:bodyPr wrap="square" rtlCol="0" anchor="ctr"/>
          <a:lstStyle/>
          <a:p>
            <a:pPr marL="0" indent="0" algn="ctr">
              <a:buNone/>
            </a:pPr>
            <a:r>
              <a:rPr lang="en-US" sz="800" b="1" dirty="0">
                <a:solidFill>
                  <a:srgbClr val="1E3A5F"/>
                </a:solidFill>
                <a:latin typeface="Calibri" pitchFamily="34" charset="0"/>
                <a:ea typeface="Calibri" pitchFamily="34" charset="-122"/>
                <a:cs typeface="Calibri" pitchFamily="34" charset="-120"/>
              </a:rPr>
              <a:t>SERVER</a:t>
            </a:r>
            <a:endParaRPr lang="en-US" sz="800" dirty="0"/>
          </a:p>
        </p:txBody>
      </p:sp>
      <p:sp>
        <p:nvSpPr>
          <p:cNvPr id="6" name="Text 4"/>
          <p:cNvSpPr/>
          <p:nvPr/>
        </p:nvSpPr>
        <p:spPr>
          <a:xfrm rot="16200000">
            <a:off x="-45720" y="3739896"/>
            <a:ext cx="612648" cy="1005840"/>
          </a:xfrm>
          <a:prstGeom prst="rect">
            <a:avLst/>
          </a:prstGeom>
          <a:noFill/>
          <a:ln/>
        </p:spPr>
        <p:txBody>
          <a:bodyPr wrap="square" rtlCol="0" anchor="ctr"/>
          <a:lstStyle/>
          <a:p>
            <a:pPr marL="0" indent="0" algn="ctr">
              <a:buNone/>
            </a:pPr>
            <a:r>
              <a:rPr lang="en-US" sz="800" b="1" dirty="0">
                <a:solidFill>
                  <a:srgbClr val="F97316"/>
                </a:solidFill>
                <a:latin typeface="Calibri" pitchFamily="34" charset="0"/>
                <a:ea typeface="Calibri" pitchFamily="34" charset="-122"/>
                <a:cs typeface="Calibri" pitchFamily="34" charset="-120"/>
              </a:rPr>
              <a:t>DATA / CDN</a:t>
            </a:r>
            <a:endParaRPr lang="en-US" sz="800" dirty="0"/>
          </a:p>
        </p:txBody>
      </p:sp>
      <p:sp>
        <p:nvSpPr>
          <p:cNvPr id="7" name="Shape 5"/>
          <p:cNvSpPr/>
          <p:nvPr/>
        </p:nvSpPr>
        <p:spPr>
          <a:xfrm>
            <a:off x="548640" y="868680"/>
            <a:ext cx="2514600" cy="1005840"/>
          </a:xfrm>
          <a:prstGeom prst="rect">
            <a:avLst/>
          </a:prstGeom>
          <a:solidFill>
            <a:srgbClr val="FFFFFF"/>
          </a:solidFill>
          <a:ln w="6350">
            <a:solidFill>
              <a:srgbClr val="94A3B8"/>
            </a:solidFill>
            <a:prstDash val="solid"/>
          </a:ln>
        </p:spPr>
      </p:sp>
      <p:sp>
        <p:nvSpPr>
          <p:cNvPr id="8" name="Shape 6"/>
          <p:cNvSpPr/>
          <p:nvPr/>
        </p:nvSpPr>
        <p:spPr>
          <a:xfrm>
            <a:off x="548640" y="868680"/>
            <a:ext cx="2514600" cy="274320"/>
          </a:xfrm>
          <a:prstGeom prst="rect">
            <a:avLst/>
          </a:prstGeom>
          <a:solidFill>
            <a:srgbClr val="0D9488"/>
          </a:solidFill>
          <a:ln w="12700">
            <a:solidFill>
              <a:srgbClr val="0D9488"/>
            </a:solidFill>
            <a:prstDash val="solid"/>
          </a:ln>
        </p:spPr>
      </p:sp>
      <p:sp>
        <p:nvSpPr>
          <p:cNvPr id="9" name="Text 7"/>
          <p:cNvSpPr/>
          <p:nvPr/>
        </p:nvSpPr>
        <p:spPr>
          <a:xfrm>
            <a:off x="548640" y="868680"/>
            <a:ext cx="25146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Student device</a:t>
            </a:r>
            <a:endParaRPr lang="en-US" sz="1000" dirty="0"/>
          </a:p>
        </p:txBody>
      </p:sp>
      <p:sp>
        <p:nvSpPr>
          <p:cNvPr id="10" name="Text 8"/>
          <p:cNvSpPr/>
          <p:nvPr/>
        </p:nvSpPr>
        <p:spPr>
          <a:xfrm>
            <a:off x="621792" y="1207008"/>
            <a:ext cx="2368296" cy="54864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Mobile App + QoE monitor</a:t>
            </a:r>
            <a:endParaRPr lang="en-US" sz="1000" dirty="0"/>
          </a:p>
        </p:txBody>
      </p:sp>
      <p:sp>
        <p:nvSpPr>
          <p:cNvPr id="11" name="Shape 9"/>
          <p:cNvSpPr/>
          <p:nvPr/>
        </p:nvSpPr>
        <p:spPr>
          <a:xfrm>
            <a:off x="3291840" y="868680"/>
            <a:ext cx="2514600" cy="1005840"/>
          </a:xfrm>
          <a:prstGeom prst="rect">
            <a:avLst/>
          </a:prstGeom>
          <a:solidFill>
            <a:srgbClr val="FFFFFF"/>
          </a:solidFill>
          <a:ln w="6350">
            <a:solidFill>
              <a:srgbClr val="94A3B8"/>
            </a:solidFill>
            <a:prstDash val="solid"/>
          </a:ln>
        </p:spPr>
      </p:sp>
      <p:sp>
        <p:nvSpPr>
          <p:cNvPr id="12" name="Shape 10"/>
          <p:cNvSpPr/>
          <p:nvPr/>
        </p:nvSpPr>
        <p:spPr>
          <a:xfrm>
            <a:off x="3291840" y="868680"/>
            <a:ext cx="2514600" cy="274320"/>
          </a:xfrm>
          <a:prstGeom prst="rect">
            <a:avLst/>
          </a:prstGeom>
          <a:solidFill>
            <a:srgbClr val="0D9488"/>
          </a:solidFill>
          <a:ln w="12700">
            <a:solidFill>
              <a:srgbClr val="0D9488"/>
            </a:solidFill>
            <a:prstDash val="solid"/>
          </a:ln>
        </p:spPr>
      </p:sp>
      <p:sp>
        <p:nvSpPr>
          <p:cNvPr id="13" name="Text 11"/>
          <p:cNvSpPr/>
          <p:nvPr/>
        </p:nvSpPr>
        <p:spPr>
          <a:xfrm>
            <a:off x="3291840" y="868680"/>
            <a:ext cx="25146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Instructor device</a:t>
            </a:r>
            <a:endParaRPr lang="en-US" sz="1000" dirty="0"/>
          </a:p>
        </p:txBody>
      </p:sp>
      <p:sp>
        <p:nvSpPr>
          <p:cNvPr id="14" name="Text 12"/>
          <p:cNvSpPr/>
          <p:nvPr/>
        </p:nvSpPr>
        <p:spPr>
          <a:xfrm>
            <a:off x="3364992" y="1207008"/>
            <a:ext cx="2368296" cy="54864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Mobile App + upload</a:t>
            </a:r>
            <a:endParaRPr lang="en-US" sz="1000" dirty="0"/>
          </a:p>
        </p:txBody>
      </p:sp>
      <p:sp>
        <p:nvSpPr>
          <p:cNvPr id="15" name="Shape 13"/>
          <p:cNvSpPr/>
          <p:nvPr/>
        </p:nvSpPr>
        <p:spPr>
          <a:xfrm>
            <a:off x="6035040" y="868680"/>
            <a:ext cx="2514600" cy="1005840"/>
          </a:xfrm>
          <a:prstGeom prst="rect">
            <a:avLst/>
          </a:prstGeom>
          <a:solidFill>
            <a:srgbClr val="FFFFFF"/>
          </a:solidFill>
          <a:ln w="6350">
            <a:solidFill>
              <a:srgbClr val="94A3B8"/>
            </a:solidFill>
            <a:prstDash val="solid"/>
          </a:ln>
        </p:spPr>
      </p:sp>
      <p:sp>
        <p:nvSpPr>
          <p:cNvPr id="16" name="Shape 14"/>
          <p:cNvSpPr/>
          <p:nvPr/>
        </p:nvSpPr>
        <p:spPr>
          <a:xfrm>
            <a:off x="6035040" y="868680"/>
            <a:ext cx="2514600" cy="274320"/>
          </a:xfrm>
          <a:prstGeom prst="rect">
            <a:avLst/>
          </a:prstGeom>
          <a:solidFill>
            <a:srgbClr val="475569"/>
          </a:solidFill>
          <a:ln w="12700">
            <a:solidFill>
              <a:srgbClr val="475569"/>
            </a:solidFill>
            <a:prstDash val="solid"/>
          </a:ln>
        </p:spPr>
      </p:sp>
      <p:sp>
        <p:nvSpPr>
          <p:cNvPr id="17" name="Text 15"/>
          <p:cNvSpPr/>
          <p:nvPr/>
        </p:nvSpPr>
        <p:spPr>
          <a:xfrm>
            <a:off x="6035040" y="868680"/>
            <a:ext cx="25146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Admin browser</a:t>
            </a:r>
            <a:endParaRPr lang="en-US" sz="1000" dirty="0"/>
          </a:p>
        </p:txBody>
      </p:sp>
      <p:sp>
        <p:nvSpPr>
          <p:cNvPr id="18" name="Text 16"/>
          <p:cNvSpPr/>
          <p:nvPr/>
        </p:nvSpPr>
        <p:spPr>
          <a:xfrm>
            <a:off x="6108192" y="1207008"/>
            <a:ext cx="2368296" cy="54864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Web dashboard</a:t>
            </a:r>
            <a:endParaRPr lang="en-US" sz="1000" dirty="0"/>
          </a:p>
        </p:txBody>
      </p:sp>
      <p:sp>
        <p:nvSpPr>
          <p:cNvPr id="19" name="Shape 17"/>
          <p:cNvSpPr/>
          <p:nvPr/>
        </p:nvSpPr>
        <p:spPr>
          <a:xfrm>
            <a:off x="548640" y="2331720"/>
            <a:ext cx="8321040" cy="1280160"/>
          </a:xfrm>
          <a:prstGeom prst="rect">
            <a:avLst/>
          </a:prstGeom>
          <a:solidFill>
            <a:srgbClr val="FFFFFF"/>
          </a:solidFill>
          <a:ln w="6350">
            <a:solidFill>
              <a:srgbClr val="94A3B8"/>
            </a:solidFill>
            <a:prstDash val="solid"/>
          </a:ln>
        </p:spPr>
      </p:sp>
      <p:sp>
        <p:nvSpPr>
          <p:cNvPr id="20" name="Shape 18"/>
          <p:cNvSpPr/>
          <p:nvPr/>
        </p:nvSpPr>
        <p:spPr>
          <a:xfrm>
            <a:off x="548640" y="2331720"/>
            <a:ext cx="8321040" cy="274320"/>
          </a:xfrm>
          <a:prstGeom prst="rect">
            <a:avLst/>
          </a:prstGeom>
          <a:solidFill>
            <a:srgbClr val="1E3A5F"/>
          </a:solidFill>
          <a:ln w="12700">
            <a:solidFill>
              <a:srgbClr val="1E3A5F"/>
            </a:solidFill>
            <a:prstDash val="solid"/>
          </a:ln>
        </p:spPr>
      </p:sp>
      <p:sp>
        <p:nvSpPr>
          <p:cNvPr id="21" name="Text 19"/>
          <p:cNvSpPr/>
          <p:nvPr/>
        </p:nvSpPr>
        <p:spPr>
          <a:xfrm>
            <a:off x="548640" y="2331720"/>
            <a:ext cx="832104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Cloud application server  (AWS EC2 / Firebase / Render)</a:t>
            </a:r>
            <a:endParaRPr lang="en-US" sz="1000" dirty="0"/>
          </a:p>
        </p:txBody>
      </p:sp>
      <p:sp>
        <p:nvSpPr>
          <p:cNvPr id="22" name="Shape 20"/>
          <p:cNvSpPr/>
          <p:nvPr/>
        </p:nvSpPr>
        <p:spPr>
          <a:xfrm>
            <a:off x="640080" y="2706624"/>
            <a:ext cx="1261872" cy="768096"/>
          </a:xfrm>
          <a:prstGeom prst="rect">
            <a:avLst/>
          </a:prstGeom>
          <a:solidFill>
            <a:srgbClr val="EEF2F7"/>
          </a:solidFill>
          <a:ln w="5080">
            <a:solidFill>
              <a:srgbClr val="94A3B8"/>
            </a:solidFill>
            <a:prstDash val="solid"/>
          </a:ln>
        </p:spPr>
      </p:sp>
      <p:sp>
        <p:nvSpPr>
          <p:cNvPr id="23" name="Text 21"/>
          <p:cNvSpPr/>
          <p:nvPr/>
        </p:nvSpPr>
        <p:spPr>
          <a:xfrm>
            <a:off x="640080" y="2706624"/>
            <a:ext cx="1261872" cy="768096"/>
          </a:xfrm>
          <a:prstGeom prst="rect">
            <a:avLst/>
          </a:prstGeom>
          <a:noFill/>
          <a:ln/>
        </p:spPr>
        <p:txBody>
          <a:bodyPr wrap="square" rtlCol="0" anchor="ctr"/>
          <a:lstStyle/>
          <a:p>
            <a:pPr marL="0" indent="0" algn="ctr">
              <a:buNone/>
            </a:pPr>
            <a:r>
              <a:rPr lang="en-US" sz="950" dirty="0">
                <a:solidFill>
                  <a:srgbClr val="132240"/>
                </a:solidFill>
                <a:latin typeface="Calibri" pitchFamily="34" charset="0"/>
                <a:ea typeface="Calibri" pitchFamily="34" charset="-122"/>
                <a:cs typeface="Calibri" pitchFamily="34" charset="-120"/>
              </a:rPr>
              <a:t>REST API</a:t>
            </a:r>
            <a:endParaRPr lang="en-US" sz="950" dirty="0"/>
          </a:p>
        </p:txBody>
      </p:sp>
      <p:sp>
        <p:nvSpPr>
          <p:cNvPr id="24" name="Shape 22"/>
          <p:cNvSpPr/>
          <p:nvPr/>
        </p:nvSpPr>
        <p:spPr>
          <a:xfrm>
            <a:off x="2011680" y="2706624"/>
            <a:ext cx="1261872" cy="768096"/>
          </a:xfrm>
          <a:prstGeom prst="rect">
            <a:avLst/>
          </a:prstGeom>
          <a:solidFill>
            <a:srgbClr val="EEF2F7"/>
          </a:solidFill>
          <a:ln w="5080">
            <a:solidFill>
              <a:srgbClr val="94A3B8"/>
            </a:solidFill>
            <a:prstDash val="solid"/>
          </a:ln>
        </p:spPr>
      </p:sp>
      <p:sp>
        <p:nvSpPr>
          <p:cNvPr id="25" name="Text 23"/>
          <p:cNvSpPr/>
          <p:nvPr/>
        </p:nvSpPr>
        <p:spPr>
          <a:xfrm>
            <a:off x="2011680" y="2706624"/>
            <a:ext cx="1261872" cy="768096"/>
          </a:xfrm>
          <a:prstGeom prst="rect">
            <a:avLst/>
          </a:prstGeom>
          <a:noFill/>
          <a:ln/>
        </p:spPr>
        <p:txBody>
          <a:bodyPr wrap="square" rtlCol="0" anchor="ctr"/>
          <a:lstStyle/>
          <a:p>
            <a:pPr marL="0" indent="0" algn="ctr">
              <a:buNone/>
            </a:pPr>
            <a:r>
              <a:rPr lang="en-US" sz="950" dirty="0">
                <a:solidFill>
                  <a:srgbClr val="132240"/>
                </a:solidFill>
                <a:latin typeface="Calibri" pitchFamily="34" charset="0"/>
                <a:ea typeface="Calibri" pitchFamily="34" charset="-122"/>
                <a:cs typeface="Calibri" pitchFamily="34" charset="-120"/>
              </a:rPr>
              <a:t>Adaptive Engine</a:t>
            </a:r>
            <a:endParaRPr lang="en-US" sz="950" dirty="0"/>
          </a:p>
        </p:txBody>
      </p:sp>
      <p:sp>
        <p:nvSpPr>
          <p:cNvPr id="26" name="Shape 24"/>
          <p:cNvSpPr/>
          <p:nvPr/>
        </p:nvSpPr>
        <p:spPr>
          <a:xfrm>
            <a:off x="3383280" y="2706624"/>
            <a:ext cx="1261872" cy="768096"/>
          </a:xfrm>
          <a:prstGeom prst="rect">
            <a:avLst/>
          </a:prstGeom>
          <a:solidFill>
            <a:srgbClr val="EEF2F7"/>
          </a:solidFill>
          <a:ln w="5080">
            <a:solidFill>
              <a:srgbClr val="94A3B8"/>
            </a:solidFill>
            <a:prstDash val="solid"/>
          </a:ln>
        </p:spPr>
      </p:sp>
      <p:sp>
        <p:nvSpPr>
          <p:cNvPr id="27" name="Text 25"/>
          <p:cNvSpPr/>
          <p:nvPr/>
        </p:nvSpPr>
        <p:spPr>
          <a:xfrm>
            <a:off x="3383280" y="2706624"/>
            <a:ext cx="1261872" cy="768096"/>
          </a:xfrm>
          <a:prstGeom prst="rect">
            <a:avLst/>
          </a:prstGeom>
          <a:noFill/>
          <a:ln/>
        </p:spPr>
        <p:txBody>
          <a:bodyPr wrap="square" rtlCol="0" anchor="ctr"/>
          <a:lstStyle/>
          <a:p>
            <a:pPr marL="0" indent="0" algn="ctr">
              <a:buNone/>
            </a:pPr>
            <a:r>
              <a:rPr lang="en-US" sz="950" dirty="0">
                <a:solidFill>
                  <a:srgbClr val="132240"/>
                </a:solidFill>
                <a:latin typeface="Calibri" pitchFamily="34" charset="0"/>
                <a:ea typeface="Calibri" pitchFamily="34" charset="-122"/>
                <a:cs typeface="Calibri" pitchFamily="34" charset="-120"/>
              </a:rPr>
              <a:t>Auth Service</a:t>
            </a:r>
            <a:endParaRPr lang="en-US" sz="950" dirty="0"/>
          </a:p>
        </p:txBody>
      </p:sp>
      <p:sp>
        <p:nvSpPr>
          <p:cNvPr id="28" name="Shape 26"/>
          <p:cNvSpPr/>
          <p:nvPr/>
        </p:nvSpPr>
        <p:spPr>
          <a:xfrm>
            <a:off x="4754880" y="2706624"/>
            <a:ext cx="1261872" cy="768096"/>
          </a:xfrm>
          <a:prstGeom prst="rect">
            <a:avLst/>
          </a:prstGeom>
          <a:solidFill>
            <a:srgbClr val="EEF2F7"/>
          </a:solidFill>
          <a:ln w="5080">
            <a:solidFill>
              <a:srgbClr val="94A3B8"/>
            </a:solidFill>
            <a:prstDash val="solid"/>
          </a:ln>
        </p:spPr>
      </p:sp>
      <p:sp>
        <p:nvSpPr>
          <p:cNvPr id="29" name="Text 27"/>
          <p:cNvSpPr/>
          <p:nvPr/>
        </p:nvSpPr>
        <p:spPr>
          <a:xfrm>
            <a:off x="4754880" y="2706624"/>
            <a:ext cx="1261872" cy="768096"/>
          </a:xfrm>
          <a:prstGeom prst="rect">
            <a:avLst/>
          </a:prstGeom>
          <a:noFill/>
          <a:ln/>
        </p:spPr>
        <p:txBody>
          <a:bodyPr wrap="square" rtlCol="0" anchor="ctr"/>
          <a:lstStyle/>
          <a:p>
            <a:pPr marL="0" indent="0" algn="ctr">
              <a:buNone/>
            </a:pPr>
            <a:r>
              <a:rPr lang="en-US" sz="950" dirty="0">
                <a:solidFill>
                  <a:srgbClr val="132240"/>
                </a:solidFill>
                <a:latin typeface="Calibri" pitchFamily="34" charset="0"/>
                <a:ea typeface="Calibri" pitchFamily="34" charset="-122"/>
                <a:cs typeface="Calibri" pitchFamily="34" charset="-120"/>
              </a:rPr>
              <a:t>QoE Service</a:t>
            </a:r>
            <a:endParaRPr lang="en-US" sz="950" dirty="0"/>
          </a:p>
        </p:txBody>
      </p:sp>
      <p:sp>
        <p:nvSpPr>
          <p:cNvPr id="30" name="Shape 28"/>
          <p:cNvSpPr/>
          <p:nvPr/>
        </p:nvSpPr>
        <p:spPr>
          <a:xfrm>
            <a:off x="6126480" y="2706624"/>
            <a:ext cx="1261872" cy="768096"/>
          </a:xfrm>
          <a:prstGeom prst="rect">
            <a:avLst/>
          </a:prstGeom>
          <a:solidFill>
            <a:srgbClr val="EEF2F7"/>
          </a:solidFill>
          <a:ln w="5080">
            <a:solidFill>
              <a:srgbClr val="94A3B8"/>
            </a:solidFill>
            <a:prstDash val="solid"/>
          </a:ln>
        </p:spPr>
      </p:sp>
      <p:sp>
        <p:nvSpPr>
          <p:cNvPr id="31" name="Text 29"/>
          <p:cNvSpPr/>
          <p:nvPr/>
        </p:nvSpPr>
        <p:spPr>
          <a:xfrm>
            <a:off x="6126480" y="2706624"/>
            <a:ext cx="1261872" cy="768096"/>
          </a:xfrm>
          <a:prstGeom prst="rect">
            <a:avLst/>
          </a:prstGeom>
          <a:noFill/>
          <a:ln/>
        </p:spPr>
        <p:txBody>
          <a:bodyPr wrap="square" rtlCol="0" anchor="ctr"/>
          <a:lstStyle/>
          <a:p>
            <a:pPr marL="0" indent="0" algn="ctr">
              <a:buNone/>
            </a:pPr>
            <a:r>
              <a:rPr lang="en-US" sz="950" dirty="0">
                <a:solidFill>
                  <a:srgbClr val="132240"/>
                </a:solidFill>
                <a:latin typeface="Calibri" pitchFamily="34" charset="0"/>
                <a:ea typeface="Calibri" pitchFamily="34" charset="-122"/>
                <a:cs typeface="Calibri" pitchFamily="34" charset="-120"/>
              </a:rPr>
              <a:t>Progress Tracker</a:t>
            </a:r>
            <a:endParaRPr lang="en-US" sz="950" dirty="0"/>
          </a:p>
        </p:txBody>
      </p:sp>
      <p:sp>
        <p:nvSpPr>
          <p:cNvPr id="32" name="Shape 30"/>
          <p:cNvSpPr/>
          <p:nvPr/>
        </p:nvSpPr>
        <p:spPr>
          <a:xfrm>
            <a:off x="7498080" y="2706624"/>
            <a:ext cx="1261872" cy="768096"/>
          </a:xfrm>
          <a:prstGeom prst="rect">
            <a:avLst/>
          </a:prstGeom>
          <a:solidFill>
            <a:srgbClr val="EEF2F7"/>
          </a:solidFill>
          <a:ln w="5080">
            <a:solidFill>
              <a:srgbClr val="94A3B8"/>
            </a:solidFill>
            <a:prstDash val="solid"/>
          </a:ln>
        </p:spPr>
      </p:sp>
      <p:sp>
        <p:nvSpPr>
          <p:cNvPr id="33" name="Text 31"/>
          <p:cNvSpPr/>
          <p:nvPr/>
        </p:nvSpPr>
        <p:spPr>
          <a:xfrm>
            <a:off x="7498080" y="2706624"/>
            <a:ext cx="1261872" cy="768096"/>
          </a:xfrm>
          <a:prstGeom prst="rect">
            <a:avLst/>
          </a:prstGeom>
          <a:noFill/>
          <a:ln/>
        </p:spPr>
        <p:txBody>
          <a:bodyPr wrap="square" rtlCol="0" anchor="ctr"/>
          <a:lstStyle/>
          <a:p>
            <a:pPr marL="0" indent="0" algn="ctr">
              <a:buNone/>
            </a:pPr>
            <a:r>
              <a:rPr lang="en-US" sz="950" dirty="0">
                <a:solidFill>
                  <a:srgbClr val="132240"/>
                </a:solidFill>
                <a:latin typeface="Calibri" pitchFamily="34" charset="0"/>
                <a:ea typeface="Calibri" pitchFamily="34" charset="-122"/>
                <a:cs typeface="Calibri" pitchFamily="34" charset="-120"/>
              </a:rPr>
              <a:t>Push Notifier</a:t>
            </a:r>
            <a:endParaRPr lang="en-US" sz="950" dirty="0"/>
          </a:p>
        </p:txBody>
      </p:sp>
      <p:sp>
        <p:nvSpPr>
          <p:cNvPr id="34" name="Shape 32"/>
          <p:cNvSpPr/>
          <p:nvPr/>
        </p:nvSpPr>
        <p:spPr>
          <a:xfrm>
            <a:off x="548640" y="3794760"/>
            <a:ext cx="2514600" cy="932688"/>
          </a:xfrm>
          <a:prstGeom prst="rect">
            <a:avLst/>
          </a:prstGeom>
          <a:solidFill>
            <a:srgbClr val="FFFFFF"/>
          </a:solidFill>
          <a:ln w="6350">
            <a:solidFill>
              <a:srgbClr val="94A3B8"/>
            </a:solidFill>
            <a:prstDash val="solid"/>
          </a:ln>
        </p:spPr>
      </p:sp>
      <p:sp>
        <p:nvSpPr>
          <p:cNvPr id="35" name="Shape 33"/>
          <p:cNvSpPr/>
          <p:nvPr/>
        </p:nvSpPr>
        <p:spPr>
          <a:xfrm>
            <a:off x="548640" y="3794760"/>
            <a:ext cx="2514600" cy="256032"/>
          </a:xfrm>
          <a:prstGeom prst="rect">
            <a:avLst/>
          </a:prstGeom>
          <a:solidFill>
            <a:srgbClr val="F97316"/>
          </a:solidFill>
          <a:ln w="12700">
            <a:solidFill>
              <a:srgbClr val="F97316"/>
            </a:solidFill>
            <a:prstDash val="solid"/>
          </a:ln>
        </p:spPr>
      </p:sp>
      <p:sp>
        <p:nvSpPr>
          <p:cNvPr id="36" name="Text 34"/>
          <p:cNvSpPr/>
          <p:nvPr/>
        </p:nvSpPr>
        <p:spPr>
          <a:xfrm>
            <a:off x="548640" y="3794760"/>
            <a:ext cx="25146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Database server</a:t>
            </a:r>
            <a:endParaRPr lang="en-US" sz="1000" dirty="0"/>
          </a:p>
        </p:txBody>
      </p:sp>
      <p:sp>
        <p:nvSpPr>
          <p:cNvPr id="37" name="Text 35"/>
          <p:cNvSpPr/>
          <p:nvPr/>
        </p:nvSpPr>
        <p:spPr>
          <a:xfrm>
            <a:off x="621792" y="4114800"/>
            <a:ext cx="2368296" cy="50292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App DB + QoE Logs</a:t>
            </a:r>
            <a:endParaRPr lang="en-US" sz="1000" dirty="0"/>
          </a:p>
        </p:txBody>
      </p:sp>
      <p:sp>
        <p:nvSpPr>
          <p:cNvPr id="38" name="Shape 36"/>
          <p:cNvSpPr/>
          <p:nvPr/>
        </p:nvSpPr>
        <p:spPr>
          <a:xfrm>
            <a:off x="3291840" y="3794760"/>
            <a:ext cx="2514600" cy="932688"/>
          </a:xfrm>
          <a:prstGeom prst="rect">
            <a:avLst/>
          </a:prstGeom>
          <a:solidFill>
            <a:srgbClr val="FFFFFF"/>
          </a:solidFill>
          <a:ln w="6350">
            <a:solidFill>
              <a:srgbClr val="94A3B8"/>
            </a:solidFill>
            <a:prstDash val="solid"/>
          </a:ln>
        </p:spPr>
      </p:sp>
      <p:sp>
        <p:nvSpPr>
          <p:cNvPr id="39" name="Shape 37"/>
          <p:cNvSpPr/>
          <p:nvPr/>
        </p:nvSpPr>
        <p:spPr>
          <a:xfrm>
            <a:off x="3291840" y="3794760"/>
            <a:ext cx="2514600" cy="256032"/>
          </a:xfrm>
          <a:prstGeom prst="rect">
            <a:avLst/>
          </a:prstGeom>
          <a:solidFill>
            <a:srgbClr val="F59E0B"/>
          </a:solidFill>
          <a:ln w="12700">
            <a:solidFill>
              <a:srgbClr val="F59E0B"/>
            </a:solidFill>
            <a:prstDash val="solid"/>
          </a:ln>
        </p:spPr>
      </p:sp>
      <p:sp>
        <p:nvSpPr>
          <p:cNvPr id="40" name="Text 38"/>
          <p:cNvSpPr/>
          <p:nvPr/>
        </p:nvSpPr>
        <p:spPr>
          <a:xfrm>
            <a:off x="3291840" y="3794760"/>
            <a:ext cx="25146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CDN / Cloud storage</a:t>
            </a:r>
            <a:endParaRPr lang="en-US" sz="1000" dirty="0"/>
          </a:p>
        </p:txBody>
      </p:sp>
      <p:sp>
        <p:nvSpPr>
          <p:cNvPr id="41" name="Text 39"/>
          <p:cNvSpPr/>
          <p:nvPr/>
        </p:nvSpPr>
        <p:spPr>
          <a:xfrm>
            <a:off x="3364992" y="4114800"/>
            <a:ext cx="2368296" cy="50292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Videos, Audio, PDFs</a:t>
            </a:r>
            <a:endParaRPr lang="en-US" sz="1000" dirty="0"/>
          </a:p>
        </p:txBody>
      </p:sp>
      <p:sp>
        <p:nvSpPr>
          <p:cNvPr id="42" name="Shape 40"/>
          <p:cNvSpPr/>
          <p:nvPr/>
        </p:nvSpPr>
        <p:spPr>
          <a:xfrm>
            <a:off x="6035040" y="3794760"/>
            <a:ext cx="2514600" cy="932688"/>
          </a:xfrm>
          <a:prstGeom prst="rect">
            <a:avLst/>
          </a:prstGeom>
          <a:solidFill>
            <a:srgbClr val="FFFFFF"/>
          </a:solidFill>
          <a:ln w="6350">
            <a:solidFill>
              <a:srgbClr val="94A3B8"/>
            </a:solidFill>
            <a:prstDash val="solid"/>
          </a:ln>
        </p:spPr>
      </p:sp>
      <p:sp>
        <p:nvSpPr>
          <p:cNvPr id="43" name="Shape 41"/>
          <p:cNvSpPr/>
          <p:nvPr/>
        </p:nvSpPr>
        <p:spPr>
          <a:xfrm>
            <a:off x="6035040" y="3794760"/>
            <a:ext cx="2514600" cy="256032"/>
          </a:xfrm>
          <a:prstGeom prst="rect">
            <a:avLst/>
          </a:prstGeom>
          <a:solidFill>
            <a:srgbClr val="475569"/>
          </a:solidFill>
          <a:ln w="12700">
            <a:solidFill>
              <a:srgbClr val="475569"/>
            </a:solidFill>
            <a:prstDash val="solid"/>
          </a:ln>
        </p:spPr>
      </p:sp>
      <p:sp>
        <p:nvSpPr>
          <p:cNvPr id="44" name="Text 42"/>
          <p:cNvSpPr/>
          <p:nvPr/>
        </p:nvSpPr>
        <p:spPr>
          <a:xfrm>
            <a:off x="6035040" y="3794760"/>
            <a:ext cx="25146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Device storage</a:t>
            </a:r>
            <a:endParaRPr lang="en-US" sz="1000" dirty="0"/>
          </a:p>
        </p:txBody>
      </p:sp>
      <p:sp>
        <p:nvSpPr>
          <p:cNvPr id="45" name="Text 43"/>
          <p:cNvSpPr/>
          <p:nvPr/>
        </p:nvSpPr>
        <p:spPr>
          <a:xfrm>
            <a:off x="6108192" y="4114800"/>
            <a:ext cx="2368296" cy="50292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Offline cache</a:t>
            </a:r>
            <a:endParaRPr lang="en-US" sz="1000" dirty="0"/>
          </a:p>
        </p:txBody>
      </p:sp>
      <p:sp>
        <p:nvSpPr>
          <p:cNvPr id="46" name="Shape 44"/>
          <p:cNvSpPr/>
          <p:nvPr/>
        </p:nvSpPr>
        <p:spPr>
          <a:xfrm>
            <a:off x="1805940" y="1874520"/>
            <a:ext cx="0" cy="457200"/>
          </a:xfrm>
          <a:prstGeom prst="line">
            <a:avLst/>
          </a:prstGeom>
          <a:noFill/>
          <a:ln w="12700">
            <a:solidFill>
              <a:srgbClr val="0D9488"/>
            </a:solidFill>
            <a:prstDash val="solid"/>
          </a:ln>
        </p:spPr>
      </p:sp>
      <p:sp>
        <p:nvSpPr>
          <p:cNvPr id="47" name="Shape 45"/>
          <p:cNvSpPr/>
          <p:nvPr/>
        </p:nvSpPr>
        <p:spPr>
          <a:xfrm>
            <a:off x="4549140" y="1874520"/>
            <a:ext cx="0" cy="457200"/>
          </a:xfrm>
          <a:prstGeom prst="line">
            <a:avLst/>
          </a:prstGeom>
          <a:noFill/>
          <a:ln w="12700">
            <a:solidFill>
              <a:srgbClr val="0D9488"/>
            </a:solidFill>
            <a:prstDash val="solid"/>
          </a:ln>
        </p:spPr>
      </p:sp>
      <p:sp>
        <p:nvSpPr>
          <p:cNvPr id="48" name="Shape 46"/>
          <p:cNvSpPr/>
          <p:nvPr/>
        </p:nvSpPr>
        <p:spPr>
          <a:xfrm>
            <a:off x="7292340" y="1874520"/>
            <a:ext cx="0" cy="457200"/>
          </a:xfrm>
          <a:prstGeom prst="line">
            <a:avLst/>
          </a:prstGeom>
          <a:noFill/>
          <a:ln w="12700">
            <a:solidFill>
              <a:srgbClr val="475569"/>
            </a:solidFill>
            <a:prstDash val="solid"/>
          </a:ln>
        </p:spPr>
      </p:sp>
      <p:sp>
        <p:nvSpPr>
          <p:cNvPr id="49" name="Text 47"/>
          <p:cNvSpPr/>
          <p:nvPr/>
        </p:nvSpPr>
        <p:spPr>
          <a:xfrm>
            <a:off x="1874520" y="1920240"/>
            <a:ext cx="548640" cy="182880"/>
          </a:xfrm>
          <a:prstGeom prst="rect">
            <a:avLst/>
          </a:prstGeom>
          <a:noFill/>
          <a:ln/>
        </p:spPr>
        <p:txBody>
          <a:bodyPr wrap="square" rtlCol="0" anchor="ctr"/>
          <a:lstStyle/>
          <a:p>
            <a:pPr marL="0" indent="0">
              <a:buNone/>
            </a:pPr>
            <a:r>
              <a:rPr lang="en-US" sz="800" dirty="0">
                <a:solidFill>
                  <a:srgbClr val="0D9488"/>
                </a:solidFill>
                <a:latin typeface="Calibri" pitchFamily="34" charset="0"/>
                <a:ea typeface="Calibri" pitchFamily="34" charset="-122"/>
                <a:cs typeface="Calibri" pitchFamily="34" charset="-120"/>
              </a:rPr>
              <a:t>HTTPS</a:t>
            </a:r>
            <a:endParaRPr lang="en-US" sz="800" dirty="0"/>
          </a:p>
        </p:txBody>
      </p:sp>
      <p:sp>
        <p:nvSpPr>
          <p:cNvPr id="50" name="Shape 48"/>
          <p:cNvSpPr/>
          <p:nvPr/>
        </p:nvSpPr>
        <p:spPr>
          <a:xfrm>
            <a:off x="1805940" y="3611880"/>
            <a:ext cx="0" cy="182880"/>
          </a:xfrm>
          <a:prstGeom prst="line">
            <a:avLst/>
          </a:prstGeom>
          <a:noFill/>
          <a:ln w="12700">
            <a:solidFill>
              <a:srgbClr val="F97316"/>
            </a:solidFill>
            <a:prstDash val="solid"/>
          </a:ln>
        </p:spPr>
      </p:sp>
      <p:sp>
        <p:nvSpPr>
          <p:cNvPr id="51" name="Shape 49"/>
          <p:cNvSpPr/>
          <p:nvPr/>
        </p:nvSpPr>
        <p:spPr>
          <a:xfrm>
            <a:off x="4549140" y="3611880"/>
            <a:ext cx="0" cy="182880"/>
          </a:xfrm>
          <a:prstGeom prst="line">
            <a:avLst/>
          </a:prstGeom>
          <a:noFill/>
          <a:ln w="12700">
            <a:solidFill>
              <a:srgbClr val="F59E0B"/>
            </a:solidFill>
            <a:prstDash val="solid"/>
          </a:ln>
        </p:spPr>
      </p:sp>
      <p:sp>
        <p:nvSpPr>
          <p:cNvPr id="52" name="Text 50"/>
          <p:cNvSpPr/>
          <p:nvPr/>
        </p:nvSpPr>
        <p:spPr>
          <a:xfrm>
            <a:off x="1874520" y="3630168"/>
            <a:ext cx="731520" cy="164592"/>
          </a:xfrm>
          <a:prstGeom prst="rect">
            <a:avLst/>
          </a:prstGeom>
          <a:noFill/>
          <a:ln/>
        </p:spPr>
        <p:txBody>
          <a:bodyPr wrap="square" rtlCol="0" anchor="ctr"/>
          <a:lstStyle/>
          <a:p>
            <a:pPr marL="0" indent="0">
              <a:buNone/>
            </a:pPr>
            <a:r>
              <a:rPr lang="en-US" sz="800" dirty="0">
                <a:solidFill>
                  <a:srgbClr val="F97316"/>
                </a:solidFill>
                <a:latin typeface="Calibri" pitchFamily="34" charset="0"/>
                <a:ea typeface="Calibri" pitchFamily="34" charset="-122"/>
                <a:cs typeface="Calibri" pitchFamily="34" charset="-120"/>
              </a:rPr>
              <a:t>SQL/TCP</a:t>
            </a:r>
            <a:endParaRPr lang="en-US" sz="800" dirty="0"/>
          </a:p>
        </p:txBody>
      </p:sp>
      <p:sp>
        <p:nvSpPr>
          <p:cNvPr id="53" name="Text 51"/>
          <p:cNvSpPr/>
          <p:nvPr/>
        </p:nvSpPr>
        <p:spPr>
          <a:xfrm>
            <a:off x="4617720" y="3630168"/>
            <a:ext cx="548640" cy="164592"/>
          </a:xfrm>
          <a:prstGeom prst="rect">
            <a:avLst/>
          </a:prstGeom>
          <a:noFill/>
          <a:ln/>
        </p:spPr>
        <p:txBody>
          <a:bodyPr wrap="square" rtlCol="0" anchor="ctr"/>
          <a:lstStyle/>
          <a:p>
            <a:pPr marL="0" indent="0">
              <a:buNone/>
            </a:pPr>
            <a:r>
              <a:rPr lang="en-US" sz="800" dirty="0">
                <a:solidFill>
                  <a:srgbClr val="F59E0B"/>
                </a:solidFill>
                <a:latin typeface="Calibri" pitchFamily="34" charset="0"/>
                <a:ea typeface="Calibri" pitchFamily="34" charset="-122"/>
                <a:cs typeface="Calibri" pitchFamily="34" charset="-120"/>
              </a:rPr>
              <a:t>HTTPS</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13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0F4F8"/>
          </a:solidFill>
          <a:ln w="12700">
            <a:solidFill>
              <a:srgbClr val="132240"/>
            </a:solidFill>
            <a:prstDash val="solid"/>
          </a:ln>
        </p:spPr>
      </p:sp>
      <p:sp>
        <p:nvSpPr>
          <p:cNvPr id="3" name="Text 1"/>
          <p:cNvSpPr/>
          <p:nvPr/>
        </p:nvSpPr>
        <p:spPr>
          <a:xfrm>
            <a:off x="274320" y="0"/>
            <a:ext cx="8595360" cy="685800"/>
          </a:xfrm>
          <a:prstGeom prst="rect">
            <a:avLst/>
          </a:prstGeom>
          <a:noFill/>
          <a:ln/>
        </p:spPr>
        <p:txBody>
          <a:bodyPr wrap="square" rtlCol="0" anchor="ctr"/>
          <a:lstStyle/>
          <a:p>
            <a:pPr marL="0" indent="0">
              <a:buNone/>
            </a:pPr>
            <a:r>
              <a:rPr lang="en-US" sz="2000" b="1" dirty="0">
                <a:solidFill>
                  <a:srgbClr val="132240"/>
                </a:solidFill>
                <a:latin typeface="Calibri" pitchFamily="34" charset="0"/>
                <a:ea typeface="Calibri" pitchFamily="34" charset="-122"/>
                <a:cs typeface="Calibri" pitchFamily="34" charset="-120"/>
              </a:rPr>
              <a:t>How the diagrams connect</a:t>
            </a:r>
            <a:endParaRPr lang="en-US" sz="2000" dirty="0">
              <a:solidFill>
                <a:srgbClr val="132240"/>
              </a:solidFill>
            </a:endParaRPr>
          </a:p>
        </p:txBody>
      </p:sp>
      <p:sp>
        <p:nvSpPr>
          <p:cNvPr id="4" name="Shape 2"/>
          <p:cNvSpPr/>
          <p:nvPr/>
        </p:nvSpPr>
        <p:spPr>
          <a:xfrm>
            <a:off x="274320" y="1005840"/>
            <a:ext cx="1234440" cy="384048"/>
          </a:xfrm>
          <a:prstGeom prst="rect">
            <a:avLst/>
          </a:prstGeom>
          <a:solidFill>
            <a:srgbClr val="0D9488"/>
          </a:solidFill>
          <a:ln w="12700">
            <a:solidFill>
              <a:srgbClr val="0D9488"/>
            </a:solidFill>
            <a:prstDash val="solid"/>
          </a:ln>
        </p:spPr>
      </p:sp>
      <p:sp>
        <p:nvSpPr>
          <p:cNvPr id="5" name="Text 3"/>
          <p:cNvSpPr/>
          <p:nvPr/>
        </p:nvSpPr>
        <p:spPr>
          <a:xfrm>
            <a:off x="274320" y="1005840"/>
            <a:ext cx="1234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Context</a:t>
            </a:r>
            <a:endParaRPr lang="en-US" sz="1100" dirty="0"/>
          </a:p>
        </p:txBody>
      </p:sp>
      <p:sp>
        <p:nvSpPr>
          <p:cNvPr id="6" name="Text 4"/>
          <p:cNvSpPr/>
          <p:nvPr/>
        </p:nvSpPr>
        <p:spPr>
          <a:xfrm>
            <a:off x="274320" y="1444752"/>
            <a:ext cx="1234440" cy="594360"/>
          </a:xfrm>
          <a:prstGeom prst="rect">
            <a:avLst/>
          </a:prstGeom>
          <a:noFill/>
          <a:ln/>
        </p:spPr>
        <p:txBody>
          <a:bodyPr wrap="square" rtlCol="0" anchor="ctr"/>
          <a:lstStyle/>
          <a:p>
            <a:pPr marL="0" indent="0" algn="ctr">
              <a:buNone/>
            </a:pPr>
            <a:r>
              <a:rPr lang="en-US" sz="950" dirty="0">
                <a:solidFill>
                  <a:srgbClr val="F0F4F8"/>
                </a:solidFill>
                <a:latin typeface="Calibri" pitchFamily="34" charset="0"/>
                <a:ea typeface="Calibri" pitchFamily="34" charset="-122"/>
                <a:cs typeface="Calibri" pitchFamily="34" charset="-120"/>
              </a:rPr>
              <a:t>Defines system boundary and external entities</a:t>
            </a:r>
            <a:endParaRPr lang="en-US" sz="950" dirty="0">
              <a:solidFill>
                <a:srgbClr val="F0F4F8"/>
              </a:solidFill>
            </a:endParaRPr>
          </a:p>
        </p:txBody>
      </p:sp>
      <p:sp>
        <p:nvSpPr>
          <p:cNvPr id="7" name="Shape 5"/>
          <p:cNvSpPr/>
          <p:nvPr/>
        </p:nvSpPr>
        <p:spPr>
          <a:xfrm>
            <a:off x="1536192" y="1197864"/>
            <a:ext cx="164592" cy="0"/>
          </a:xfrm>
          <a:prstGeom prst="line">
            <a:avLst/>
          </a:prstGeom>
          <a:noFill/>
          <a:ln w="12700">
            <a:solidFill>
              <a:srgbClr val="94A3B8"/>
            </a:solidFill>
            <a:prstDash val="solid"/>
          </a:ln>
        </p:spPr>
      </p:sp>
      <p:sp>
        <p:nvSpPr>
          <p:cNvPr id="8" name="Shape 6"/>
          <p:cNvSpPr/>
          <p:nvPr/>
        </p:nvSpPr>
        <p:spPr>
          <a:xfrm>
            <a:off x="1719072" y="1005840"/>
            <a:ext cx="1234440" cy="384048"/>
          </a:xfrm>
          <a:prstGeom prst="rect">
            <a:avLst/>
          </a:prstGeom>
          <a:solidFill>
            <a:srgbClr val="1E3A5F"/>
          </a:solidFill>
          <a:ln w="12700">
            <a:solidFill>
              <a:srgbClr val="1E3A5F"/>
            </a:solidFill>
            <a:prstDash val="solid"/>
          </a:ln>
        </p:spPr>
      </p:sp>
      <p:sp>
        <p:nvSpPr>
          <p:cNvPr id="9" name="Text 7"/>
          <p:cNvSpPr/>
          <p:nvPr/>
        </p:nvSpPr>
        <p:spPr>
          <a:xfrm>
            <a:off x="1719072" y="1005840"/>
            <a:ext cx="1234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DFD</a:t>
            </a:r>
            <a:endParaRPr lang="en-US" sz="1100" dirty="0"/>
          </a:p>
        </p:txBody>
      </p:sp>
      <p:sp>
        <p:nvSpPr>
          <p:cNvPr id="10" name="Text 8"/>
          <p:cNvSpPr/>
          <p:nvPr/>
        </p:nvSpPr>
        <p:spPr>
          <a:xfrm>
            <a:off x="1719072" y="1444752"/>
            <a:ext cx="1234440" cy="594360"/>
          </a:xfrm>
          <a:prstGeom prst="rect">
            <a:avLst/>
          </a:prstGeom>
          <a:noFill/>
          <a:ln/>
        </p:spPr>
        <p:txBody>
          <a:bodyPr wrap="square" rtlCol="0" anchor="ctr"/>
          <a:lstStyle/>
          <a:p>
            <a:pPr marL="0" indent="0" algn="ctr">
              <a:buNone/>
            </a:pPr>
            <a:r>
              <a:rPr lang="en-US" sz="950" dirty="0">
                <a:solidFill>
                  <a:srgbClr val="F0F4F8"/>
                </a:solidFill>
                <a:latin typeface="Calibri" pitchFamily="34" charset="0"/>
                <a:ea typeface="Calibri" pitchFamily="34" charset="-122"/>
                <a:cs typeface="Calibri" pitchFamily="34" charset="-120"/>
              </a:rPr>
              <a:t>Shows how data flows between those entities</a:t>
            </a:r>
            <a:endParaRPr lang="en-US" sz="950" dirty="0">
              <a:solidFill>
                <a:srgbClr val="F0F4F8"/>
              </a:solidFill>
            </a:endParaRPr>
          </a:p>
        </p:txBody>
      </p:sp>
      <p:sp>
        <p:nvSpPr>
          <p:cNvPr id="11" name="Shape 9"/>
          <p:cNvSpPr/>
          <p:nvPr/>
        </p:nvSpPr>
        <p:spPr>
          <a:xfrm>
            <a:off x="2980944" y="1197864"/>
            <a:ext cx="164592" cy="0"/>
          </a:xfrm>
          <a:prstGeom prst="line">
            <a:avLst/>
          </a:prstGeom>
          <a:noFill/>
          <a:ln w="12700">
            <a:solidFill>
              <a:srgbClr val="94A3B8"/>
            </a:solidFill>
            <a:prstDash val="solid"/>
          </a:ln>
        </p:spPr>
      </p:sp>
      <p:sp>
        <p:nvSpPr>
          <p:cNvPr id="12" name="Shape 10"/>
          <p:cNvSpPr/>
          <p:nvPr/>
        </p:nvSpPr>
        <p:spPr>
          <a:xfrm>
            <a:off x="3163824" y="1005840"/>
            <a:ext cx="1234440" cy="384048"/>
          </a:xfrm>
          <a:prstGeom prst="rect">
            <a:avLst/>
          </a:prstGeom>
          <a:solidFill>
            <a:srgbClr val="F97316"/>
          </a:solidFill>
          <a:ln w="12700">
            <a:solidFill>
              <a:srgbClr val="F97316"/>
            </a:solidFill>
            <a:prstDash val="solid"/>
          </a:ln>
        </p:spPr>
      </p:sp>
      <p:sp>
        <p:nvSpPr>
          <p:cNvPr id="13" name="Text 11"/>
          <p:cNvSpPr/>
          <p:nvPr/>
        </p:nvSpPr>
        <p:spPr>
          <a:xfrm>
            <a:off x="3163824" y="1005840"/>
            <a:ext cx="1234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Use Case</a:t>
            </a:r>
            <a:endParaRPr lang="en-US" sz="1100" dirty="0"/>
          </a:p>
        </p:txBody>
      </p:sp>
      <p:sp>
        <p:nvSpPr>
          <p:cNvPr id="14" name="Text 12"/>
          <p:cNvSpPr/>
          <p:nvPr/>
        </p:nvSpPr>
        <p:spPr>
          <a:xfrm>
            <a:off x="3163824" y="1444752"/>
            <a:ext cx="1234440" cy="594360"/>
          </a:xfrm>
          <a:prstGeom prst="rect">
            <a:avLst/>
          </a:prstGeom>
          <a:noFill/>
          <a:ln/>
        </p:spPr>
        <p:txBody>
          <a:bodyPr wrap="square" rtlCol="0" anchor="ctr"/>
          <a:lstStyle/>
          <a:p>
            <a:pPr marL="0" indent="0" algn="ctr">
              <a:buNone/>
            </a:pPr>
            <a:r>
              <a:rPr lang="en-US" sz="950" dirty="0">
                <a:solidFill>
                  <a:srgbClr val="F0F4F8"/>
                </a:solidFill>
                <a:latin typeface="Calibri" pitchFamily="34" charset="0"/>
                <a:ea typeface="Calibri" pitchFamily="34" charset="-122"/>
                <a:cs typeface="Calibri" pitchFamily="34" charset="-120"/>
              </a:rPr>
              <a:t>Maps actors to specific interactions</a:t>
            </a:r>
            <a:endParaRPr lang="en-US" sz="950" dirty="0">
              <a:solidFill>
                <a:srgbClr val="F0F4F8"/>
              </a:solidFill>
            </a:endParaRPr>
          </a:p>
        </p:txBody>
      </p:sp>
      <p:sp>
        <p:nvSpPr>
          <p:cNvPr id="15" name="Shape 13"/>
          <p:cNvSpPr/>
          <p:nvPr/>
        </p:nvSpPr>
        <p:spPr>
          <a:xfrm>
            <a:off x="4425696" y="1197864"/>
            <a:ext cx="164592" cy="0"/>
          </a:xfrm>
          <a:prstGeom prst="line">
            <a:avLst/>
          </a:prstGeom>
          <a:noFill/>
          <a:ln w="12700">
            <a:solidFill>
              <a:srgbClr val="94A3B8"/>
            </a:solidFill>
            <a:prstDash val="solid"/>
          </a:ln>
        </p:spPr>
      </p:sp>
      <p:sp>
        <p:nvSpPr>
          <p:cNvPr id="16" name="Shape 14"/>
          <p:cNvSpPr/>
          <p:nvPr/>
        </p:nvSpPr>
        <p:spPr>
          <a:xfrm>
            <a:off x="4608576" y="1005840"/>
            <a:ext cx="1234440" cy="384048"/>
          </a:xfrm>
          <a:prstGeom prst="rect">
            <a:avLst/>
          </a:prstGeom>
          <a:solidFill>
            <a:srgbClr val="F59E0B"/>
          </a:solidFill>
          <a:ln w="12700">
            <a:solidFill>
              <a:srgbClr val="F59E0B"/>
            </a:solidFill>
            <a:prstDash val="solid"/>
          </a:ln>
        </p:spPr>
      </p:sp>
      <p:sp>
        <p:nvSpPr>
          <p:cNvPr id="17" name="Text 15"/>
          <p:cNvSpPr/>
          <p:nvPr/>
        </p:nvSpPr>
        <p:spPr>
          <a:xfrm>
            <a:off x="4608576" y="1005840"/>
            <a:ext cx="1234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Sequence</a:t>
            </a:r>
            <a:endParaRPr lang="en-US" sz="1100" dirty="0"/>
          </a:p>
        </p:txBody>
      </p:sp>
      <p:sp>
        <p:nvSpPr>
          <p:cNvPr id="18" name="Text 16"/>
          <p:cNvSpPr/>
          <p:nvPr/>
        </p:nvSpPr>
        <p:spPr>
          <a:xfrm>
            <a:off x="4608576" y="1444752"/>
            <a:ext cx="1234440" cy="594360"/>
          </a:xfrm>
          <a:prstGeom prst="rect">
            <a:avLst/>
          </a:prstGeom>
          <a:noFill/>
          <a:ln/>
        </p:spPr>
        <p:txBody>
          <a:bodyPr wrap="square" rtlCol="0" anchor="ctr"/>
          <a:lstStyle/>
          <a:p>
            <a:pPr marL="0" indent="0" algn="ctr">
              <a:buNone/>
            </a:pPr>
            <a:r>
              <a:rPr lang="en-US" sz="950" dirty="0">
                <a:solidFill>
                  <a:srgbClr val="F0F4F8"/>
                </a:solidFill>
                <a:latin typeface="Calibri" pitchFamily="34" charset="0"/>
                <a:ea typeface="Calibri" pitchFamily="34" charset="-122"/>
                <a:cs typeface="Calibri" pitchFamily="34" charset="-120"/>
              </a:rPr>
              <a:t>Details message order for each use case</a:t>
            </a:r>
            <a:endParaRPr lang="en-US" sz="950" dirty="0">
              <a:solidFill>
                <a:srgbClr val="F0F4F8"/>
              </a:solidFill>
            </a:endParaRPr>
          </a:p>
        </p:txBody>
      </p:sp>
      <p:sp>
        <p:nvSpPr>
          <p:cNvPr id="19" name="Shape 17"/>
          <p:cNvSpPr/>
          <p:nvPr/>
        </p:nvSpPr>
        <p:spPr>
          <a:xfrm>
            <a:off x="5870448" y="1197864"/>
            <a:ext cx="164592" cy="0"/>
          </a:xfrm>
          <a:prstGeom prst="line">
            <a:avLst/>
          </a:prstGeom>
          <a:noFill/>
          <a:ln w="12700">
            <a:solidFill>
              <a:srgbClr val="94A3B8"/>
            </a:solidFill>
            <a:prstDash val="solid"/>
          </a:ln>
        </p:spPr>
      </p:sp>
      <p:sp>
        <p:nvSpPr>
          <p:cNvPr id="20" name="Shape 18"/>
          <p:cNvSpPr/>
          <p:nvPr/>
        </p:nvSpPr>
        <p:spPr>
          <a:xfrm>
            <a:off x="6053328" y="1005840"/>
            <a:ext cx="1234440" cy="384048"/>
          </a:xfrm>
          <a:prstGeom prst="rect">
            <a:avLst/>
          </a:prstGeom>
          <a:solidFill>
            <a:srgbClr val="132240"/>
          </a:solidFill>
          <a:ln w="12700">
            <a:solidFill>
              <a:srgbClr val="132240"/>
            </a:solidFill>
            <a:prstDash val="solid"/>
          </a:ln>
        </p:spPr>
      </p:sp>
      <p:sp>
        <p:nvSpPr>
          <p:cNvPr id="21" name="Text 19"/>
          <p:cNvSpPr/>
          <p:nvPr/>
        </p:nvSpPr>
        <p:spPr>
          <a:xfrm>
            <a:off x="6053328" y="1005840"/>
            <a:ext cx="1234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Class</a:t>
            </a:r>
            <a:endParaRPr lang="en-US" sz="1100" dirty="0"/>
          </a:p>
        </p:txBody>
      </p:sp>
      <p:sp>
        <p:nvSpPr>
          <p:cNvPr id="22" name="Text 20"/>
          <p:cNvSpPr/>
          <p:nvPr/>
        </p:nvSpPr>
        <p:spPr>
          <a:xfrm>
            <a:off x="6053328" y="1444752"/>
            <a:ext cx="1234440" cy="594360"/>
          </a:xfrm>
          <a:prstGeom prst="rect">
            <a:avLst/>
          </a:prstGeom>
          <a:noFill/>
          <a:ln/>
        </p:spPr>
        <p:txBody>
          <a:bodyPr wrap="square" rtlCol="0" anchor="ctr"/>
          <a:lstStyle/>
          <a:p>
            <a:pPr marL="0" indent="0" algn="ctr">
              <a:buNone/>
            </a:pPr>
            <a:r>
              <a:rPr lang="en-US" sz="950" dirty="0">
                <a:solidFill>
                  <a:srgbClr val="F0F4F8"/>
                </a:solidFill>
                <a:latin typeface="Calibri" pitchFamily="34" charset="0"/>
                <a:ea typeface="Calibri" pitchFamily="34" charset="-122"/>
                <a:cs typeface="Calibri" pitchFamily="34" charset="-120"/>
              </a:rPr>
              <a:t>Defines the structure of all objects</a:t>
            </a:r>
            <a:endParaRPr lang="en-US" sz="950" dirty="0">
              <a:solidFill>
                <a:srgbClr val="F0F4F8"/>
              </a:solidFill>
            </a:endParaRPr>
          </a:p>
        </p:txBody>
      </p:sp>
      <p:sp>
        <p:nvSpPr>
          <p:cNvPr id="23" name="Shape 21"/>
          <p:cNvSpPr/>
          <p:nvPr/>
        </p:nvSpPr>
        <p:spPr>
          <a:xfrm>
            <a:off x="7315200" y="1197864"/>
            <a:ext cx="164592" cy="0"/>
          </a:xfrm>
          <a:prstGeom prst="line">
            <a:avLst/>
          </a:prstGeom>
          <a:noFill/>
          <a:ln w="12700">
            <a:solidFill>
              <a:srgbClr val="94A3B8"/>
            </a:solidFill>
            <a:prstDash val="solid"/>
          </a:ln>
        </p:spPr>
      </p:sp>
      <p:sp>
        <p:nvSpPr>
          <p:cNvPr id="24" name="Shape 22"/>
          <p:cNvSpPr/>
          <p:nvPr/>
        </p:nvSpPr>
        <p:spPr>
          <a:xfrm>
            <a:off x="7498080" y="1005840"/>
            <a:ext cx="1234440" cy="384048"/>
          </a:xfrm>
          <a:prstGeom prst="rect">
            <a:avLst/>
          </a:prstGeom>
          <a:solidFill>
            <a:srgbClr val="0D9488"/>
          </a:solidFill>
          <a:ln w="12700">
            <a:solidFill>
              <a:srgbClr val="0D9488"/>
            </a:solidFill>
            <a:prstDash val="solid"/>
          </a:ln>
        </p:spPr>
      </p:sp>
      <p:sp>
        <p:nvSpPr>
          <p:cNvPr id="25" name="Text 23"/>
          <p:cNvSpPr/>
          <p:nvPr/>
        </p:nvSpPr>
        <p:spPr>
          <a:xfrm>
            <a:off x="7498080" y="1005840"/>
            <a:ext cx="12344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Deployment</a:t>
            </a:r>
            <a:endParaRPr lang="en-US" sz="1100" dirty="0"/>
          </a:p>
        </p:txBody>
      </p:sp>
      <p:sp>
        <p:nvSpPr>
          <p:cNvPr id="26" name="Text 24"/>
          <p:cNvSpPr/>
          <p:nvPr/>
        </p:nvSpPr>
        <p:spPr>
          <a:xfrm>
            <a:off x="7498080" y="1444752"/>
            <a:ext cx="1234440" cy="594360"/>
          </a:xfrm>
          <a:prstGeom prst="rect">
            <a:avLst/>
          </a:prstGeom>
          <a:noFill/>
          <a:ln/>
        </p:spPr>
        <p:txBody>
          <a:bodyPr wrap="square" rtlCol="0" anchor="ctr"/>
          <a:lstStyle/>
          <a:p>
            <a:pPr marL="0" indent="0" algn="ctr">
              <a:buNone/>
            </a:pPr>
            <a:r>
              <a:rPr lang="en-US" sz="950" dirty="0">
                <a:solidFill>
                  <a:srgbClr val="F0F4F8"/>
                </a:solidFill>
                <a:latin typeface="Calibri" pitchFamily="34" charset="0"/>
                <a:ea typeface="Calibri" pitchFamily="34" charset="-122"/>
                <a:cs typeface="Calibri" pitchFamily="34" charset="-120"/>
              </a:rPr>
              <a:t>Maps services to physical nodes</a:t>
            </a:r>
            <a:endParaRPr lang="en-US" sz="950" dirty="0">
              <a:solidFill>
                <a:srgbClr val="F0F4F8"/>
              </a:solidFill>
            </a:endParaRPr>
          </a:p>
        </p:txBody>
      </p:sp>
      <p:sp>
        <p:nvSpPr>
          <p:cNvPr id="28" name="Text 26"/>
          <p:cNvSpPr/>
          <p:nvPr/>
        </p:nvSpPr>
        <p:spPr>
          <a:xfrm>
            <a:off x="137160" y="2062196"/>
            <a:ext cx="8595360" cy="822960"/>
          </a:xfrm>
          <a:prstGeom prst="rect">
            <a:avLst/>
          </a:prstGeom>
          <a:noFill/>
          <a:ln/>
        </p:spPr>
        <p:txBody>
          <a:bodyPr wrap="square" rtlCol="0" anchor="ctr"/>
          <a:lstStyle/>
          <a:p>
            <a:pPr marL="0" indent="0">
              <a:lnSpc>
                <a:spcPct val="150000"/>
              </a:lnSpc>
              <a:buNone/>
            </a:pPr>
            <a:r>
              <a:rPr lang="en-US" sz="1200" dirty="0">
                <a:solidFill>
                  <a:srgbClr val="F0F4F8"/>
                </a:solidFill>
                <a:latin typeface="Calibri" pitchFamily="34" charset="0"/>
                <a:ea typeface="Calibri" pitchFamily="34" charset="-122"/>
                <a:cs typeface="Calibri" pitchFamily="34" charset="-120"/>
              </a:rPr>
              <a:t>Each diagram builds on the previous one. Context sets the boundary, DFD shows data movement, Use Case maps interactions, Sequence shows time-order, Class defines the data model, and Deployment shows where everything runs.</a:t>
            </a:r>
            <a:endParaRPr lang="en-US" sz="1200" dirty="0">
              <a:solidFill>
                <a:srgbClr val="F0F4F8"/>
              </a:solidFill>
            </a:endParaRPr>
          </a:p>
        </p:txBody>
      </p:sp>
      <p:sp>
        <p:nvSpPr>
          <p:cNvPr id="29" name="Shape 27"/>
          <p:cNvSpPr/>
          <p:nvPr/>
        </p:nvSpPr>
        <p:spPr>
          <a:xfrm>
            <a:off x="1243584" y="3003804"/>
            <a:ext cx="1463040" cy="219456"/>
          </a:xfrm>
          <a:prstGeom prst="rect">
            <a:avLst/>
          </a:prstGeom>
          <a:solidFill>
            <a:srgbClr val="132240"/>
          </a:solidFill>
          <a:ln w="2540">
            <a:solidFill>
              <a:srgbClr val="94A3B8"/>
            </a:solidFill>
            <a:prstDash val="solid"/>
          </a:ln>
        </p:spPr>
      </p:sp>
      <p:sp>
        <p:nvSpPr>
          <p:cNvPr id="30" name="Text 28"/>
          <p:cNvSpPr/>
          <p:nvPr/>
        </p:nvSpPr>
        <p:spPr>
          <a:xfrm>
            <a:off x="1298448" y="3003804"/>
            <a:ext cx="1371600" cy="219456"/>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Diagram</a:t>
            </a:r>
            <a:endParaRPr lang="en-US" sz="950" dirty="0"/>
          </a:p>
        </p:txBody>
      </p:sp>
      <p:sp>
        <p:nvSpPr>
          <p:cNvPr id="31" name="Shape 29"/>
          <p:cNvSpPr/>
          <p:nvPr/>
        </p:nvSpPr>
        <p:spPr>
          <a:xfrm>
            <a:off x="2724912" y="3003804"/>
            <a:ext cx="4754880" cy="219456"/>
          </a:xfrm>
          <a:prstGeom prst="rect">
            <a:avLst/>
          </a:prstGeom>
          <a:solidFill>
            <a:srgbClr val="132240"/>
          </a:solidFill>
          <a:ln w="2540">
            <a:solidFill>
              <a:srgbClr val="94A3B8"/>
            </a:solidFill>
            <a:prstDash val="solid"/>
          </a:ln>
        </p:spPr>
      </p:sp>
      <p:sp>
        <p:nvSpPr>
          <p:cNvPr id="32" name="Text 30"/>
          <p:cNvSpPr/>
          <p:nvPr/>
        </p:nvSpPr>
        <p:spPr>
          <a:xfrm>
            <a:off x="2779776" y="3003804"/>
            <a:ext cx="4663440" cy="219456"/>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Contribution to implementation</a:t>
            </a:r>
            <a:endParaRPr lang="en-US" sz="950" dirty="0"/>
          </a:p>
        </p:txBody>
      </p:sp>
      <p:sp>
        <p:nvSpPr>
          <p:cNvPr id="35" name="Shape 33"/>
          <p:cNvSpPr/>
          <p:nvPr/>
        </p:nvSpPr>
        <p:spPr>
          <a:xfrm>
            <a:off x="1243584" y="3232404"/>
            <a:ext cx="1463040" cy="219456"/>
          </a:xfrm>
          <a:prstGeom prst="rect">
            <a:avLst/>
          </a:prstGeom>
          <a:solidFill>
            <a:srgbClr val="EEF2F7"/>
          </a:solidFill>
          <a:ln w="2540">
            <a:solidFill>
              <a:srgbClr val="94A3B8"/>
            </a:solidFill>
            <a:prstDash val="solid"/>
          </a:ln>
        </p:spPr>
      </p:sp>
      <p:sp>
        <p:nvSpPr>
          <p:cNvPr id="36" name="Text 34"/>
          <p:cNvSpPr/>
          <p:nvPr/>
        </p:nvSpPr>
        <p:spPr>
          <a:xfrm>
            <a:off x="1298448" y="3232404"/>
            <a:ext cx="137160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Context</a:t>
            </a:r>
            <a:endParaRPr lang="en-US" sz="950" dirty="0"/>
          </a:p>
        </p:txBody>
      </p:sp>
      <p:sp>
        <p:nvSpPr>
          <p:cNvPr id="37" name="Shape 35"/>
          <p:cNvSpPr/>
          <p:nvPr/>
        </p:nvSpPr>
        <p:spPr>
          <a:xfrm>
            <a:off x="2724912" y="3232404"/>
            <a:ext cx="4754880" cy="219456"/>
          </a:xfrm>
          <a:prstGeom prst="rect">
            <a:avLst/>
          </a:prstGeom>
          <a:solidFill>
            <a:srgbClr val="EEF2F7"/>
          </a:solidFill>
          <a:ln w="2540">
            <a:solidFill>
              <a:srgbClr val="94A3B8"/>
            </a:solidFill>
            <a:prstDash val="solid"/>
          </a:ln>
        </p:spPr>
      </p:sp>
      <p:sp>
        <p:nvSpPr>
          <p:cNvPr id="38" name="Text 36"/>
          <p:cNvSpPr/>
          <p:nvPr/>
        </p:nvSpPr>
        <p:spPr>
          <a:xfrm>
            <a:off x="2779776" y="3232404"/>
            <a:ext cx="466344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API entry points, integration contracts</a:t>
            </a:r>
            <a:endParaRPr lang="en-US" sz="950" dirty="0"/>
          </a:p>
        </p:txBody>
      </p:sp>
      <p:sp>
        <p:nvSpPr>
          <p:cNvPr id="41" name="Shape 39"/>
          <p:cNvSpPr/>
          <p:nvPr/>
        </p:nvSpPr>
        <p:spPr>
          <a:xfrm>
            <a:off x="1243584" y="3461004"/>
            <a:ext cx="1463040" cy="219456"/>
          </a:xfrm>
          <a:prstGeom prst="rect">
            <a:avLst/>
          </a:prstGeom>
          <a:solidFill>
            <a:srgbClr val="FFFFFF"/>
          </a:solidFill>
          <a:ln w="2540">
            <a:solidFill>
              <a:srgbClr val="94A3B8"/>
            </a:solidFill>
            <a:prstDash val="solid"/>
          </a:ln>
        </p:spPr>
      </p:sp>
      <p:sp>
        <p:nvSpPr>
          <p:cNvPr id="42" name="Text 40"/>
          <p:cNvSpPr/>
          <p:nvPr/>
        </p:nvSpPr>
        <p:spPr>
          <a:xfrm>
            <a:off x="1298448" y="3461004"/>
            <a:ext cx="137160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DFD</a:t>
            </a:r>
            <a:endParaRPr lang="en-US" sz="950" dirty="0"/>
          </a:p>
        </p:txBody>
      </p:sp>
      <p:sp>
        <p:nvSpPr>
          <p:cNvPr id="43" name="Shape 41"/>
          <p:cNvSpPr/>
          <p:nvPr/>
        </p:nvSpPr>
        <p:spPr>
          <a:xfrm>
            <a:off x="2724912" y="3461004"/>
            <a:ext cx="4754880" cy="219456"/>
          </a:xfrm>
          <a:prstGeom prst="rect">
            <a:avLst/>
          </a:prstGeom>
          <a:solidFill>
            <a:srgbClr val="FFFFFF"/>
          </a:solidFill>
          <a:ln w="2540">
            <a:solidFill>
              <a:srgbClr val="94A3B8"/>
            </a:solidFill>
            <a:prstDash val="solid"/>
          </a:ln>
        </p:spPr>
      </p:sp>
      <p:sp>
        <p:nvSpPr>
          <p:cNvPr id="44" name="Text 42"/>
          <p:cNvSpPr/>
          <p:nvPr/>
        </p:nvSpPr>
        <p:spPr>
          <a:xfrm>
            <a:off x="2779776" y="3461004"/>
            <a:ext cx="466344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Service boundaries, data store schema</a:t>
            </a:r>
            <a:endParaRPr lang="en-US" sz="950" dirty="0"/>
          </a:p>
        </p:txBody>
      </p:sp>
      <p:sp>
        <p:nvSpPr>
          <p:cNvPr id="47" name="Shape 45"/>
          <p:cNvSpPr/>
          <p:nvPr/>
        </p:nvSpPr>
        <p:spPr>
          <a:xfrm>
            <a:off x="1243584" y="3689604"/>
            <a:ext cx="1463040" cy="219456"/>
          </a:xfrm>
          <a:prstGeom prst="rect">
            <a:avLst/>
          </a:prstGeom>
          <a:solidFill>
            <a:srgbClr val="EEF2F7"/>
          </a:solidFill>
          <a:ln w="2540">
            <a:solidFill>
              <a:srgbClr val="94A3B8"/>
            </a:solidFill>
            <a:prstDash val="solid"/>
          </a:ln>
        </p:spPr>
      </p:sp>
      <p:sp>
        <p:nvSpPr>
          <p:cNvPr id="48" name="Text 46"/>
          <p:cNvSpPr/>
          <p:nvPr/>
        </p:nvSpPr>
        <p:spPr>
          <a:xfrm>
            <a:off x="1298448" y="3689604"/>
            <a:ext cx="137160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Use Case</a:t>
            </a:r>
            <a:endParaRPr lang="en-US" sz="950" dirty="0"/>
          </a:p>
        </p:txBody>
      </p:sp>
      <p:sp>
        <p:nvSpPr>
          <p:cNvPr id="49" name="Shape 47"/>
          <p:cNvSpPr/>
          <p:nvPr/>
        </p:nvSpPr>
        <p:spPr>
          <a:xfrm>
            <a:off x="2724912" y="3689604"/>
            <a:ext cx="4754880" cy="219456"/>
          </a:xfrm>
          <a:prstGeom prst="rect">
            <a:avLst/>
          </a:prstGeom>
          <a:solidFill>
            <a:srgbClr val="EEF2F7"/>
          </a:solidFill>
          <a:ln w="2540">
            <a:solidFill>
              <a:srgbClr val="94A3B8"/>
            </a:solidFill>
            <a:prstDash val="solid"/>
          </a:ln>
        </p:spPr>
      </p:sp>
      <p:sp>
        <p:nvSpPr>
          <p:cNvPr id="50" name="Text 48"/>
          <p:cNvSpPr/>
          <p:nvPr/>
        </p:nvSpPr>
        <p:spPr>
          <a:xfrm>
            <a:off x="2779776" y="3689604"/>
            <a:ext cx="466344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Feature list and test cases</a:t>
            </a:r>
            <a:endParaRPr lang="en-US" sz="950" dirty="0"/>
          </a:p>
        </p:txBody>
      </p:sp>
      <p:sp>
        <p:nvSpPr>
          <p:cNvPr id="53" name="Shape 51"/>
          <p:cNvSpPr/>
          <p:nvPr/>
        </p:nvSpPr>
        <p:spPr>
          <a:xfrm>
            <a:off x="1243584" y="3918204"/>
            <a:ext cx="1463040" cy="219456"/>
          </a:xfrm>
          <a:prstGeom prst="rect">
            <a:avLst/>
          </a:prstGeom>
          <a:solidFill>
            <a:srgbClr val="FFFFFF"/>
          </a:solidFill>
          <a:ln w="2540">
            <a:solidFill>
              <a:srgbClr val="94A3B8"/>
            </a:solidFill>
            <a:prstDash val="solid"/>
          </a:ln>
        </p:spPr>
      </p:sp>
      <p:sp>
        <p:nvSpPr>
          <p:cNvPr id="54" name="Text 52"/>
          <p:cNvSpPr/>
          <p:nvPr/>
        </p:nvSpPr>
        <p:spPr>
          <a:xfrm>
            <a:off x="1298448" y="3918204"/>
            <a:ext cx="137160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Sequence</a:t>
            </a:r>
            <a:endParaRPr lang="en-US" sz="950" dirty="0"/>
          </a:p>
        </p:txBody>
      </p:sp>
      <p:sp>
        <p:nvSpPr>
          <p:cNvPr id="55" name="Shape 53"/>
          <p:cNvSpPr/>
          <p:nvPr/>
        </p:nvSpPr>
        <p:spPr>
          <a:xfrm>
            <a:off x="2724912" y="3918204"/>
            <a:ext cx="4754880" cy="219456"/>
          </a:xfrm>
          <a:prstGeom prst="rect">
            <a:avLst/>
          </a:prstGeom>
          <a:solidFill>
            <a:srgbClr val="FFFFFF"/>
          </a:solidFill>
          <a:ln w="2540">
            <a:solidFill>
              <a:srgbClr val="94A3B8"/>
            </a:solidFill>
            <a:prstDash val="solid"/>
          </a:ln>
        </p:spPr>
      </p:sp>
      <p:sp>
        <p:nvSpPr>
          <p:cNvPr id="56" name="Text 54"/>
          <p:cNvSpPr/>
          <p:nvPr/>
        </p:nvSpPr>
        <p:spPr>
          <a:xfrm>
            <a:off x="2779776" y="3918204"/>
            <a:ext cx="466344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API call signatures, event handlers</a:t>
            </a:r>
            <a:endParaRPr lang="en-US" sz="950" dirty="0"/>
          </a:p>
        </p:txBody>
      </p:sp>
      <p:sp>
        <p:nvSpPr>
          <p:cNvPr id="59" name="Shape 57"/>
          <p:cNvSpPr/>
          <p:nvPr/>
        </p:nvSpPr>
        <p:spPr>
          <a:xfrm>
            <a:off x="1243584" y="4146804"/>
            <a:ext cx="1463040" cy="219456"/>
          </a:xfrm>
          <a:prstGeom prst="rect">
            <a:avLst/>
          </a:prstGeom>
          <a:solidFill>
            <a:srgbClr val="EEF2F7"/>
          </a:solidFill>
          <a:ln w="2540">
            <a:solidFill>
              <a:srgbClr val="94A3B8"/>
            </a:solidFill>
            <a:prstDash val="solid"/>
          </a:ln>
        </p:spPr>
      </p:sp>
      <p:sp>
        <p:nvSpPr>
          <p:cNvPr id="60" name="Text 58"/>
          <p:cNvSpPr/>
          <p:nvPr/>
        </p:nvSpPr>
        <p:spPr>
          <a:xfrm>
            <a:off x="1298448" y="4146804"/>
            <a:ext cx="137160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Class</a:t>
            </a:r>
            <a:endParaRPr lang="en-US" sz="950" dirty="0"/>
          </a:p>
        </p:txBody>
      </p:sp>
      <p:sp>
        <p:nvSpPr>
          <p:cNvPr id="61" name="Shape 59"/>
          <p:cNvSpPr/>
          <p:nvPr/>
        </p:nvSpPr>
        <p:spPr>
          <a:xfrm>
            <a:off x="2724912" y="4146804"/>
            <a:ext cx="4754880" cy="219456"/>
          </a:xfrm>
          <a:prstGeom prst="rect">
            <a:avLst/>
          </a:prstGeom>
          <a:solidFill>
            <a:srgbClr val="EEF2F7"/>
          </a:solidFill>
          <a:ln w="2540">
            <a:solidFill>
              <a:srgbClr val="94A3B8"/>
            </a:solidFill>
            <a:prstDash val="solid"/>
          </a:ln>
        </p:spPr>
      </p:sp>
      <p:sp>
        <p:nvSpPr>
          <p:cNvPr id="62" name="Text 60"/>
          <p:cNvSpPr/>
          <p:nvPr/>
        </p:nvSpPr>
        <p:spPr>
          <a:xfrm>
            <a:off x="2779776" y="4146804"/>
            <a:ext cx="466344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Database models, OOP structure</a:t>
            </a:r>
            <a:endParaRPr lang="en-US" sz="950" dirty="0"/>
          </a:p>
        </p:txBody>
      </p:sp>
      <p:sp>
        <p:nvSpPr>
          <p:cNvPr id="65" name="Shape 63"/>
          <p:cNvSpPr/>
          <p:nvPr/>
        </p:nvSpPr>
        <p:spPr>
          <a:xfrm>
            <a:off x="1243584" y="4375404"/>
            <a:ext cx="1463040" cy="219456"/>
          </a:xfrm>
          <a:prstGeom prst="rect">
            <a:avLst/>
          </a:prstGeom>
          <a:solidFill>
            <a:srgbClr val="FFFFFF"/>
          </a:solidFill>
          <a:ln w="2540">
            <a:solidFill>
              <a:srgbClr val="94A3B8"/>
            </a:solidFill>
            <a:prstDash val="solid"/>
          </a:ln>
        </p:spPr>
      </p:sp>
      <p:sp>
        <p:nvSpPr>
          <p:cNvPr id="66" name="Text 64"/>
          <p:cNvSpPr/>
          <p:nvPr/>
        </p:nvSpPr>
        <p:spPr>
          <a:xfrm>
            <a:off x="1298448" y="4375404"/>
            <a:ext cx="137160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Deployment</a:t>
            </a:r>
            <a:endParaRPr lang="en-US" sz="950" dirty="0"/>
          </a:p>
        </p:txBody>
      </p:sp>
      <p:sp>
        <p:nvSpPr>
          <p:cNvPr id="67" name="Shape 65"/>
          <p:cNvSpPr/>
          <p:nvPr/>
        </p:nvSpPr>
        <p:spPr>
          <a:xfrm>
            <a:off x="2724912" y="4375404"/>
            <a:ext cx="4754880" cy="219456"/>
          </a:xfrm>
          <a:prstGeom prst="rect">
            <a:avLst/>
          </a:prstGeom>
          <a:solidFill>
            <a:srgbClr val="FFFFFF"/>
          </a:solidFill>
          <a:ln w="2540">
            <a:solidFill>
              <a:srgbClr val="94A3B8"/>
            </a:solidFill>
            <a:prstDash val="solid"/>
          </a:ln>
        </p:spPr>
      </p:sp>
      <p:sp>
        <p:nvSpPr>
          <p:cNvPr id="68" name="Text 66"/>
          <p:cNvSpPr/>
          <p:nvPr/>
        </p:nvSpPr>
        <p:spPr>
          <a:xfrm>
            <a:off x="2779776" y="4375404"/>
            <a:ext cx="4663440" cy="219456"/>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Infrastructure config, DevOps setup</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chemeClr val="accent1">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chemeClr val="accent2"/>
          </a:solidFill>
          <a:ln w="12700">
            <a:solidFill>
              <a:schemeClr val="accent2"/>
            </a:solidFill>
            <a:prstDash val="solid"/>
          </a:ln>
        </p:spPr>
      </p:sp>
      <p:sp>
        <p:nvSpPr>
          <p:cNvPr id="3" name="Text 1"/>
          <p:cNvSpPr/>
          <p:nvPr/>
        </p:nvSpPr>
        <p:spPr>
          <a:xfrm>
            <a:off x="365760" y="457200"/>
            <a:ext cx="8229600" cy="59436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Summary</a:t>
            </a:r>
            <a:endParaRPr lang="en-US" sz="3600" dirty="0"/>
          </a:p>
        </p:txBody>
      </p:sp>
      <p:sp>
        <p:nvSpPr>
          <p:cNvPr id="4" name="Text 2"/>
          <p:cNvSpPr/>
          <p:nvPr/>
        </p:nvSpPr>
        <p:spPr>
          <a:xfrm>
            <a:off x="365760" y="1097280"/>
            <a:ext cx="8229600" cy="411480"/>
          </a:xfrm>
          <a:prstGeom prst="rect">
            <a:avLst/>
          </a:prstGeom>
          <a:noFill/>
          <a:ln/>
        </p:spPr>
        <p:txBody>
          <a:bodyPr wrap="square" rtlCol="0" anchor="ctr"/>
          <a:lstStyle/>
          <a:p>
            <a:pPr marL="0" indent="0">
              <a:buNone/>
            </a:pPr>
            <a:r>
              <a:rPr lang="en-US" sz="1800" dirty="0">
                <a:solidFill>
                  <a:schemeClr val="accent2"/>
                </a:solidFill>
                <a:latin typeface="Calibri" pitchFamily="34" charset="0"/>
                <a:ea typeface="Calibri" pitchFamily="34" charset="-122"/>
                <a:cs typeface="Calibri" pitchFamily="34" charset="-120"/>
              </a:rPr>
              <a:t>System Modelling &amp; Design</a:t>
            </a:r>
            <a:endParaRPr lang="en-US" sz="1800" dirty="0">
              <a:solidFill>
                <a:schemeClr val="accent2"/>
              </a:solidFill>
            </a:endParaRPr>
          </a:p>
        </p:txBody>
      </p:sp>
      <p:sp>
        <p:nvSpPr>
          <p:cNvPr id="5" name="Shape 3"/>
          <p:cNvSpPr/>
          <p:nvPr/>
        </p:nvSpPr>
        <p:spPr>
          <a:xfrm>
            <a:off x="365760" y="1920240"/>
            <a:ext cx="73152" cy="457200"/>
          </a:xfrm>
          <a:prstGeom prst="rect">
            <a:avLst/>
          </a:prstGeom>
          <a:solidFill>
            <a:schemeClr val="accent2"/>
          </a:solidFill>
          <a:ln w="12700">
            <a:solidFill>
              <a:schemeClr val="accent2"/>
            </a:solidFill>
            <a:prstDash val="solid"/>
          </a:ln>
        </p:spPr>
      </p:sp>
      <p:sp>
        <p:nvSpPr>
          <p:cNvPr id="6" name="Text 4"/>
          <p:cNvSpPr/>
          <p:nvPr/>
        </p:nvSpPr>
        <p:spPr>
          <a:xfrm>
            <a:off x="548640" y="1920240"/>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Context Diagram</a:t>
            </a:r>
            <a:endParaRPr lang="en-US" sz="1200" dirty="0"/>
          </a:p>
        </p:txBody>
      </p:sp>
      <p:sp>
        <p:nvSpPr>
          <p:cNvPr id="7" name="Text 5"/>
          <p:cNvSpPr/>
          <p:nvPr/>
        </p:nvSpPr>
        <p:spPr>
          <a:xfrm>
            <a:off x="548640" y="2176272"/>
            <a:ext cx="3931920" cy="20116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Boundary and external actors defined</a:t>
            </a:r>
            <a:endParaRPr lang="en-US" sz="1100" dirty="0"/>
          </a:p>
        </p:txBody>
      </p:sp>
      <p:sp>
        <p:nvSpPr>
          <p:cNvPr id="8" name="Shape 6"/>
          <p:cNvSpPr/>
          <p:nvPr/>
        </p:nvSpPr>
        <p:spPr>
          <a:xfrm>
            <a:off x="4709160" y="1920240"/>
            <a:ext cx="73152" cy="457200"/>
          </a:xfrm>
          <a:prstGeom prst="rect">
            <a:avLst/>
          </a:prstGeom>
          <a:solidFill>
            <a:schemeClr val="accent2"/>
          </a:solidFill>
          <a:ln w="12700">
            <a:solidFill>
              <a:schemeClr val="accent2"/>
            </a:solidFill>
            <a:prstDash val="solid"/>
          </a:ln>
        </p:spPr>
      </p:sp>
      <p:sp>
        <p:nvSpPr>
          <p:cNvPr id="9" name="Text 7"/>
          <p:cNvSpPr/>
          <p:nvPr/>
        </p:nvSpPr>
        <p:spPr>
          <a:xfrm>
            <a:off x="4892040" y="1920240"/>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DFD Level 1</a:t>
            </a:r>
            <a:endParaRPr lang="en-US" sz="1200" dirty="0"/>
          </a:p>
        </p:txBody>
      </p:sp>
      <p:sp>
        <p:nvSpPr>
          <p:cNvPr id="10" name="Text 8"/>
          <p:cNvSpPr/>
          <p:nvPr/>
        </p:nvSpPr>
        <p:spPr>
          <a:xfrm>
            <a:off x="4892040" y="2176272"/>
            <a:ext cx="3931920" cy="20116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6 core processes identified</a:t>
            </a:r>
            <a:endParaRPr lang="en-US" sz="1100" dirty="0"/>
          </a:p>
        </p:txBody>
      </p:sp>
      <p:sp>
        <p:nvSpPr>
          <p:cNvPr id="11" name="Shape 9"/>
          <p:cNvSpPr/>
          <p:nvPr/>
        </p:nvSpPr>
        <p:spPr>
          <a:xfrm>
            <a:off x="365760" y="2670048"/>
            <a:ext cx="73152" cy="457200"/>
          </a:xfrm>
          <a:prstGeom prst="rect">
            <a:avLst/>
          </a:prstGeom>
          <a:solidFill>
            <a:schemeClr val="accent2"/>
          </a:solidFill>
          <a:ln w="12700">
            <a:solidFill>
              <a:schemeClr val="accent2"/>
            </a:solidFill>
            <a:prstDash val="solid"/>
          </a:ln>
        </p:spPr>
      </p:sp>
      <p:sp>
        <p:nvSpPr>
          <p:cNvPr id="12" name="Text 10"/>
          <p:cNvSpPr/>
          <p:nvPr/>
        </p:nvSpPr>
        <p:spPr>
          <a:xfrm>
            <a:off x="548640" y="2670048"/>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Use Case Diagram</a:t>
            </a:r>
            <a:endParaRPr lang="en-US" sz="1200" dirty="0"/>
          </a:p>
        </p:txBody>
      </p:sp>
      <p:sp>
        <p:nvSpPr>
          <p:cNvPr id="13" name="Text 11"/>
          <p:cNvSpPr/>
          <p:nvPr/>
        </p:nvSpPr>
        <p:spPr>
          <a:xfrm>
            <a:off x="548640" y="2926080"/>
            <a:ext cx="3931920" cy="20116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3 primary + 2 secondary actors, 20+ use cases</a:t>
            </a:r>
            <a:endParaRPr lang="en-US" sz="1100" dirty="0"/>
          </a:p>
        </p:txBody>
      </p:sp>
      <p:sp>
        <p:nvSpPr>
          <p:cNvPr id="14" name="Shape 12"/>
          <p:cNvSpPr/>
          <p:nvPr/>
        </p:nvSpPr>
        <p:spPr>
          <a:xfrm>
            <a:off x="4709160" y="2670048"/>
            <a:ext cx="73152" cy="457200"/>
          </a:xfrm>
          <a:prstGeom prst="rect">
            <a:avLst/>
          </a:prstGeom>
          <a:solidFill>
            <a:schemeClr val="accent2"/>
          </a:solidFill>
          <a:ln w="12700">
            <a:solidFill>
              <a:schemeClr val="accent2"/>
            </a:solidFill>
            <a:prstDash val="solid"/>
          </a:ln>
        </p:spPr>
      </p:sp>
      <p:sp>
        <p:nvSpPr>
          <p:cNvPr id="15" name="Text 13"/>
          <p:cNvSpPr/>
          <p:nvPr/>
        </p:nvSpPr>
        <p:spPr>
          <a:xfrm>
            <a:off x="4892040" y="2670048"/>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Sequence Diagram</a:t>
            </a:r>
            <a:endParaRPr lang="en-US" sz="1200" dirty="0"/>
          </a:p>
        </p:txBody>
      </p:sp>
      <p:sp>
        <p:nvSpPr>
          <p:cNvPr id="16" name="Text 14"/>
          <p:cNvSpPr/>
          <p:nvPr/>
        </p:nvSpPr>
        <p:spPr>
          <a:xfrm>
            <a:off x="4892040" y="2926080"/>
            <a:ext cx="3931920" cy="20116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5 key scenarios modelled</a:t>
            </a:r>
            <a:endParaRPr lang="en-US" sz="1100" dirty="0"/>
          </a:p>
        </p:txBody>
      </p:sp>
      <p:sp>
        <p:nvSpPr>
          <p:cNvPr id="17" name="Shape 15"/>
          <p:cNvSpPr/>
          <p:nvPr/>
        </p:nvSpPr>
        <p:spPr>
          <a:xfrm>
            <a:off x="365760" y="3419856"/>
            <a:ext cx="73152" cy="457200"/>
          </a:xfrm>
          <a:prstGeom prst="rect">
            <a:avLst/>
          </a:prstGeom>
          <a:solidFill>
            <a:schemeClr val="accent2"/>
          </a:solidFill>
          <a:ln w="12700">
            <a:solidFill>
              <a:schemeClr val="accent2"/>
            </a:solidFill>
            <a:prstDash val="solid"/>
          </a:ln>
        </p:spPr>
      </p:sp>
      <p:sp>
        <p:nvSpPr>
          <p:cNvPr id="18" name="Text 16"/>
          <p:cNvSpPr/>
          <p:nvPr/>
        </p:nvSpPr>
        <p:spPr>
          <a:xfrm>
            <a:off x="548640" y="3419856"/>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Class Diagram</a:t>
            </a:r>
            <a:endParaRPr lang="en-US" sz="1200" dirty="0"/>
          </a:p>
        </p:txBody>
      </p:sp>
      <p:sp>
        <p:nvSpPr>
          <p:cNvPr id="19" name="Text 17"/>
          <p:cNvSpPr/>
          <p:nvPr/>
        </p:nvSpPr>
        <p:spPr>
          <a:xfrm>
            <a:off x="548640" y="3675888"/>
            <a:ext cx="3931920" cy="20116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11 classes with attributes and relationships</a:t>
            </a:r>
            <a:endParaRPr lang="en-US" sz="1100" dirty="0"/>
          </a:p>
        </p:txBody>
      </p:sp>
      <p:sp>
        <p:nvSpPr>
          <p:cNvPr id="20" name="Shape 18"/>
          <p:cNvSpPr/>
          <p:nvPr/>
        </p:nvSpPr>
        <p:spPr>
          <a:xfrm>
            <a:off x="4709160" y="3419856"/>
            <a:ext cx="73152" cy="457200"/>
          </a:xfrm>
          <a:prstGeom prst="rect">
            <a:avLst/>
          </a:prstGeom>
          <a:solidFill>
            <a:schemeClr val="accent2"/>
          </a:solidFill>
          <a:ln w="12700">
            <a:solidFill>
              <a:schemeClr val="accent2"/>
            </a:solidFill>
            <a:prstDash val="solid"/>
          </a:ln>
        </p:spPr>
      </p:sp>
      <p:sp>
        <p:nvSpPr>
          <p:cNvPr id="21" name="Text 19"/>
          <p:cNvSpPr/>
          <p:nvPr/>
        </p:nvSpPr>
        <p:spPr>
          <a:xfrm>
            <a:off x="4892040" y="3419856"/>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Deployment Diagram</a:t>
            </a:r>
            <a:endParaRPr lang="en-US" sz="1200" dirty="0"/>
          </a:p>
        </p:txBody>
      </p:sp>
      <p:sp>
        <p:nvSpPr>
          <p:cNvPr id="22" name="Text 20"/>
          <p:cNvSpPr/>
          <p:nvPr/>
        </p:nvSpPr>
        <p:spPr>
          <a:xfrm>
            <a:off x="4892040" y="3675888"/>
            <a:ext cx="3931920" cy="20116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3-tier architecture: client / server / data + CDN</a:t>
            </a:r>
            <a:endParaRPr lang="en-US" sz="1100" dirty="0"/>
          </a:p>
        </p:txBody>
      </p:sp>
      <p:sp>
        <p:nvSpPr>
          <p:cNvPr id="23" name="Shape 21"/>
          <p:cNvSpPr/>
          <p:nvPr/>
        </p:nvSpPr>
        <p:spPr>
          <a:xfrm>
            <a:off x="365760" y="4343400"/>
            <a:ext cx="8412480" cy="36576"/>
          </a:xfrm>
          <a:prstGeom prst="rect">
            <a:avLst/>
          </a:prstGeom>
          <a:solidFill>
            <a:schemeClr val="accent2">
              <a:lumMod val="75000"/>
            </a:schemeClr>
          </a:solidFill>
          <a:ln w="12700">
            <a:solidFill>
              <a:schemeClr val="accent2">
                <a:lumMod val="75000"/>
              </a:schemeClr>
            </a:solidFill>
            <a:prstDash val="solid"/>
          </a:ln>
        </p:spPr>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247</TotalTime>
  <Words>1241</Words>
  <Application>Microsoft Office PowerPoint</Application>
  <PresentationFormat>On-screen Show (16:9)</PresentationFormat>
  <Paragraphs>215</Paragraphs>
  <Slides>18</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4: System Modelling and Design</dc:title>
  <dc:subject>PptxGenJS Presentation</dc:subject>
  <dc:creator>PptxGenJS;Fontebo Achah</dc:creator>
  <cp:lastModifiedBy>Fontebo Achah</cp:lastModifiedBy>
  <cp:revision>9</cp:revision>
  <dcterms:created xsi:type="dcterms:W3CDTF">2026-05-25T19:49:37Z</dcterms:created>
  <dcterms:modified xsi:type="dcterms:W3CDTF">2026-06-02T13:45:19Z</dcterms:modified>
</cp:coreProperties>
</file>